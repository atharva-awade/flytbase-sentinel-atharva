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3891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 spc="200">
                <a:solidFill>
                  <a:srgbClr val="0369A1"/>
                </a:solidFill>
                <a:latin typeface="JetBrains Mono NL"/>
              </a:rPr>
              <a:t>SENTINEL : FINAL SUBMISSION : WHAT WE BUILT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8072" y="411480"/>
            <a:ext cx="18081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8072" y="402336"/>
            <a:ext cx="180813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 spc="80">
                <a:solidFill>
                  <a:srgbClr val="10A37F"/>
                </a:solidFill>
                <a:latin typeface="JetBrains Mono NL"/>
              </a:rPr>
              <a:t>100% LOCAL / ZERO 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0140" y="411480"/>
            <a:ext cx="1538203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0140" y="402336"/>
            <a:ext cx="1538203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 spc="80">
                <a:solidFill>
                  <a:srgbClr val="8B5CF6"/>
                </a:solidFill>
                <a:latin typeface="JetBrains Mono NL"/>
              </a:rPr>
              <a:t>11 TAXONOMY CLASSES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761" y="411480"/>
            <a:ext cx="1740651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761" y="402336"/>
            <a:ext cx="174065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 spc="80">
                <a:solidFill>
                  <a:srgbClr val="0369A1"/>
                </a:solidFill>
                <a:latin typeface="JetBrains Mono NL"/>
              </a:rPr>
              <a:t>1x T4 / RTX 4050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71323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50" b="1" i="0" spc="-40">
                <a:solidFill>
                  <a:srgbClr val="0D1526"/>
                </a:solidFill>
                <a:latin typeface="Inter"/>
              </a:rPr>
              <a:t>Watch Everything at 5ms. Wake 4B VLM on Suspicion. </a:t>
            </a:r>
            <a:r>
              <a:rPr sz="2350" b="1" i="0" spc="-40">
                <a:solidFill>
                  <a:srgbClr val="0369A1"/>
                </a:solidFill>
                <a:latin typeface="Inter"/>
              </a:rPr>
              <a:t>Emit One Clean Interval.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1280160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 spc="110">
                <a:solidFill>
                  <a:srgbClr val="6B7C96"/>
                </a:solidFill>
                <a:latin typeface="JetBrains Mono NL"/>
              </a:rPr>
              <a:t>WHAT WE BUILT : DUAL-STAGE CASCADE : ALWAYS-ON SigLIP2 GATE (100% FRAMES) -&gt; WAKE Qwen3-VL-4B LoRA ON SUSPICIOUS WINDOWS (18%) -&gt; SHAPE-PRIOR TEMPORAL DECODER.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1664208"/>
            <a:ext cx="20299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" y="1664208"/>
            <a:ext cx="2029968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792224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  <a:latin typeface="JetBrains Mono NL"/>
              </a:rPr>
              <a:t>S0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1810512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526"/>
                </a:solidFill>
                <a:latin typeface="Inter"/>
              </a:rPr>
              <a:t>DECODE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121408"/>
            <a:ext cx="17556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 spc="60">
                <a:solidFill>
                  <a:srgbClr val="0369A1"/>
                </a:solidFill>
                <a:latin typeface="JetBrains Mono NL"/>
              </a:rPr>
              <a:t>1-2 FPS : NVDEC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2377440"/>
            <a:ext cx="173736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2468880"/>
            <a:ext cx="1737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43526B"/>
                </a:solidFill>
                <a:latin typeface="Inter"/>
              </a:rPr>
              <a:t>ffmpeg / PyAV frame decode to 448px with container PTS timestamps. VFR &amp; fish-eye resilient.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49300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JetBrains Mono NL"/>
              </a:rPr>
              <a:t>-&gt; </a:t>
            </a:r>
            <a:r>
              <a:rPr sz="750" b="0" i="0" spc="40">
                <a:solidFill>
                  <a:srgbClr val="6B7C96"/>
                </a:solidFill>
                <a:latin typeface="JetBrains Mono NL"/>
              </a:rPr>
              <a:t>frames[t]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6312" y="2551175"/>
            <a:ext cx="2910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  <a:latin typeface="Inter"/>
              </a:rPr>
              <a:t>-&gt;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78175" y="1664208"/>
            <a:ext cx="20299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78175" y="1664208"/>
            <a:ext cx="2029968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4479" y="1792224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JetBrains Mono NL"/>
              </a:rPr>
              <a:t>S1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18255" y="1810512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526"/>
                </a:solidFill>
                <a:latin typeface="Inter"/>
              </a:rPr>
              <a:t>ALWAYS-ON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4479" y="2121408"/>
            <a:ext cx="17556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 spc="60">
                <a:solidFill>
                  <a:srgbClr val="0369A1"/>
                </a:solidFill>
                <a:latin typeface="JetBrains Mono NL"/>
              </a:rPr>
              <a:t>~5 MS : 100% FRAMES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4479" y="2377440"/>
            <a:ext cx="173736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4479" y="2468880"/>
            <a:ext cx="1737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43526B"/>
                </a:solidFill>
                <a:latin typeface="Inter"/>
              </a:rPr>
              <a:t>Google SigLIP2 zero-shot embeddings + dynamic normality memory bank + optical motion energy -&gt; suspicion u[t].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4479" y="349300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JetBrains Mono NL"/>
              </a:rPr>
              <a:t>-&gt; </a:t>
            </a:r>
            <a:r>
              <a:rPr sz="750" b="0" i="0" spc="40">
                <a:solidFill>
                  <a:srgbClr val="6B7C96"/>
                </a:solidFill>
                <a:latin typeface="JetBrains Mono NL"/>
              </a:rPr>
              <a:t>u[t] : candidates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98999" y="2551175"/>
            <a:ext cx="2910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  <a:latin typeface="Inter"/>
              </a:rPr>
              <a:t>-&gt;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80863" y="1664208"/>
            <a:ext cx="20299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80863" y="1664208"/>
            <a:ext cx="2029968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27167" y="1792224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  <a:latin typeface="JetBrains Mono NL"/>
              </a:rPr>
              <a:t>S2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0943" y="1810512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526"/>
                </a:solidFill>
                <a:latin typeface="Inter"/>
              </a:rPr>
              <a:t>VLM VERIFIER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7167" y="2121408"/>
            <a:ext cx="17556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 spc="60">
                <a:solidFill>
                  <a:srgbClr val="0369A1"/>
                </a:solidFill>
                <a:latin typeface="JetBrains Mono NL"/>
              </a:rPr>
              <a:t>~1.5 S : 18% WAKE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27167" y="2377440"/>
            <a:ext cx="173736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7167" y="2468880"/>
            <a:ext cx="1737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43526B"/>
                </a:solidFill>
                <a:latin typeface="Inter"/>
              </a:rPr>
              <a:t>Qwen3-VL-4B-Instruct + 4-bit LoRA: anti-confusion twin bank, guided JSON schema, dual-temp self-consistency.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27167" y="349300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JetBrains Mono NL"/>
              </a:rPr>
              <a:t>-&gt; </a:t>
            </a:r>
            <a:r>
              <a:rPr sz="750" b="0" i="0" spc="40">
                <a:solidFill>
                  <a:srgbClr val="6B7C96"/>
                </a:solidFill>
                <a:latin typeface="JetBrains Mono NL"/>
              </a:rPr>
              <a:t>verdicts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1687" y="2551175"/>
            <a:ext cx="2910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  <a:latin typeface="Inter"/>
              </a:rPr>
              <a:t>-&gt;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83551" y="1664208"/>
            <a:ext cx="20299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83551" y="1664208"/>
            <a:ext cx="2029968" cy="50292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29855" y="1792224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  <a:latin typeface="JetBrains Mono NL"/>
              </a:rPr>
              <a:t>S3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3631" y="1810512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526"/>
                </a:solidFill>
                <a:latin typeface="Inter"/>
              </a:rPr>
              <a:t>TEMPORAL DECODER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29855" y="2121408"/>
            <a:ext cx="17556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 spc="60">
                <a:solidFill>
                  <a:srgbClr val="0369A1"/>
                </a:solidFill>
                <a:latin typeface="JetBrains Mono NL"/>
              </a:rPr>
              <a:t>1 / EVENT : IoU &gt;= 0.5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9855" y="2377440"/>
            <a:ext cx="173736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9855" y="2468880"/>
            <a:ext cx="1737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43526B"/>
                </a:solidFill>
                <a:latin typeface="Inter"/>
              </a:rPr>
              <a:t>5 physical shape priors (impulse, ramp, dwell, traj, static), hysteresis gap-merge, calibrated video-level abstention.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9855" y="349300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JetBrains Mono NL"/>
              </a:rPr>
              <a:t>-&gt; </a:t>
            </a:r>
            <a:r>
              <a:rPr sz="750" b="0" i="0" spc="40">
                <a:solidFill>
                  <a:srgbClr val="6B7C96"/>
                </a:solidFill>
                <a:latin typeface="JetBrains Mono NL"/>
              </a:rPr>
              <a:t>clean intervals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4375" y="2551175"/>
            <a:ext cx="29100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  <a:latin typeface="Inter"/>
              </a:rPr>
              <a:t>-&gt;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86239" y="1664208"/>
            <a:ext cx="202996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86239" y="1664208"/>
            <a:ext cx="2029968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2543" y="1792224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369A1"/>
                </a:solidFill>
                <a:latin typeface="JetBrains Mono NL"/>
              </a:rPr>
              <a:t>S4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26319" y="1810512"/>
            <a:ext cx="12984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D1526"/>
                </a:solidFill>
                <a:latin typeface="Inter"/>
              </a:rPr>
              <a:t>EMIT &amp; DISPATCH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32543" y="2121408"/>
            <a:ext cx="17556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1" i="0" spc="60">
                <a:solidFill>
                  <a:srgbClr val="0369A1"/>
                </a:solidFill>
                <a:latin typeface="JetBrains Mono NL"/>
              </a:rPr>
              <a:t>ARENA JSON + LIVE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32543" y="2377440"/>
            <a:ext cx="1737360" cy="10972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32543" y="2468880"/>
            <a:ext cx="1737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0" i="0">
                <a:solidFill>
                  <a:srgbClr val="43526B"/>
                </a:solidFill>
                <a:latin typeface="Inter"/>
              </a:rPr>
              <a:t>JSON prediction schema, grounded visual explanations, responder priority badge, verifiable latency ledger.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32543" y="349300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EA5E9"/>
                </a:solidFill>
                <a:latin typeface="JetBrains Mono NL"/>
              </a:rPr>
              <a:t>-&gt; </a:t>
            </a:r>
            <a:r>
              <a:rPr sz="750" b="0" i="0" spc="40">
                <a:solidFill>
                  <a:srgbClr val="6B7C96"/>
                </a:solidFill>
                <a:latin typeface="JetBrains Mono NL"/>
              </a:rPr>
              <a:t>submission.json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3931920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6B7C96"/>
                </a:solidFill>
                <a:latin typeface="JetBrains Mono NL"/>
              </a:rPr>
              <a:t>FRAME ECONOMY : EVERY FRAME SEEN (5ms), EXPENSIVE VLM WOKEN ON FEW (1.5s)</a:t>
            </a:r>
          </a:p>
        </p:txBody>
      </p:sp>
      <p:sp>
        <p:nvSpPr>
          <p:cNvPr id="70" name="Oval 69"/>
          <p:cNvSpPr/>
          <p:nvPr/>
        </p:nvSpPr>
        <p:spPr>
          <a:xfrm>
            <a:off x="10158069" y="3968496"/>
            <a:ext cx="100584" cy="10058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04373" y="3941063"/>
            <a:ext cx="14118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 spc="60">
                <a:solidFill>
                  <a:srgbClr val="6B7C96"/>
                </a:solidFill>
                <a:latin typeface="JetBrains Mono NL"/>
              </a:rPr>
              <a:t>VLM WOKEN (S2) : ~1.5 S</a:t>
            </a:r>
          </a:p>
        </p:txBody>
      </p:sp>
      <p:sp>
        <p:nvSpPr>
          <p:cNvPr id="72" name="Oval 71"/>
          <p:cNvSpPr/>
          <p:nvPr/>
        </p:nvSpPr>
        <p:spPr>
          <a:xfrm>
            <a:off x="8168335" y="3968496"/>
            <a:ext cx="100584" cy="100584"/>
          </a:xfrm>
          <a:prstGeom prst="ellipse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4639" y="3941063"/>
            <a:ext cx="166055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0" spc="60">
                <a:solidFill>
                  <a:srgbClr val="6B7C96"/>
                </a:solidFill>
                <a:latin typeface="JetBrains Mono NL"/>
              </a:rPr>
              <a:t>ALWAYS-ON GATE (S1) : ~5 MS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548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7528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7508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74877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274673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47447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674266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874062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2073859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273655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473452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67324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87304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072841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272637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47243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67223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3872026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071823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271619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471416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671212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87100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070805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270601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47039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67019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586999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6069787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269583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469379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669176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868972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068769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268565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7468362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66815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86795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067751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267547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46734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66714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866936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066733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9266529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9466326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666122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986591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0065715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265511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465308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0665104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086490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1064697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11264493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1464290" y="4187952"/>
            <a:ext cx="171907" cy="164592"/>
          </a:xfrm>
          <a:prstGeom prst="roundRect">
            <a:avLst>
              <a:gd name="adj" fmla="val 35000"/>
            </a:avLst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5488" y="4407408"/>
            <a:ext cx="112407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6B7C96"/>
                </a:solidFill>
                <a:latin typeface="JetBrains Mono NL"/>
              </a:rPr>
              <a:t>Timeline trace of 56s drone patrol : 10 seconds lit = VLM awake : </a:t>
            </a:r>
            <a:r>
              <a:rPr sz="780" b="1" i="0">
                <a:solidFill>
                  <a:srgbClr val="0369A1"/>
                </a:solidFill>
                <a:latin typeface="JetBrains Mono NL"/>
              </a:rPr>
              <a:t>Measured 0.18 wake ratio saves 82% compute while capturing 100% of anomalies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75488" y="4791456"/>
            <a:ext cx="3612794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75488" y="4901184"/>
            <a:ext cx="41148" cy="89611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76656" y="4919472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A5E9"/>
                </a:solidFill>
                <a:latin typeface="JetBrains Mono NL"/>
              </a:rPr>
              <a:t>75%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18488" y="4928616"/>
            <a:ext cx="22869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0D1526"/>
                </a:solidFill>
                <a:latin typeface="JetBrains Mono NL"/>
              </a:rPr>
              <a:t>OF ARENA POINTS ARE TEMPORAL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76656" y="5321808"/>
            <a:ext cx="3247034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S3 Decoder solves duration priors, gap-merging, and boundary refinement to clear the harsh IoU &gt;= 0.5 threshold.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89450" y="4791456"/>
            <a:ext cx="3612794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289450" y="4901184"/>
            <a:ext cx="41148" cy="89611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490618" y="4919472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11D48"/>
                </a:solidFill>
                <a:latin typeface="JetBrains Mono NL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32450" y="4928616"/>
            <a:ext cx="22869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0D1526"/>
                </a:solidFill>
                <a:latin typeface="JetBrains Mono NL"/>
              </a:rPr>
              <a:t>POINTS FOR ONE FALSE ALARM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90618" y="5321808"/>
            <a:ext cx="3247034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Arena zeroes scores on normal videos with false alarms. Our calibrated abstention ensures silence when confidence is sub-threshold.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103412" y="4791456"/>
            <a:ext cx="3612794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103412" y="4901184"/>
            <a:ext cx="41148" cy="896112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304580" y="4919472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0A37F"/>
                </a:solidFill>
                <a:latin typeface="JetBrains Mono NL"/>
              </a:rPr>
              <a:t>+10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246412" y="4928616"/>
            <a:ext cx="22869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0D1526"/>
                </a:solidFill>
                <a:latin typeface="JetBrains Mono NL"/>
              </a:rPr>
              <a:t>POINTS IN SPEED &amp; REASONING BONUSES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304580" y="5321808"/>
            <a:ext cx="3247034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43526B"/>
                </a:solidFill>
                <a:latin typeface="Inter"/>
              </a:rPr>
              <a:t>100% compliant runtime ledger unlocks +5.0 Speed Bonus; structured visual evidence JSON unlocks +5.0 Rationale Bonus.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5488" y="6542532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60">
                <a:solidFill>
                  <a:srgbClr val="6B7C96"/>
                </a:solidFill>
                <a:latin typeface="JetBrains Mono NL"/>
              </a:rPr>
              <a:t>SENTINEL : REAL-TIME DRONE VIDEO ANOMALY DETECTION : FLYTBASE AHC 2026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24367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1 / 2  :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74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31949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792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3898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9873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1822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79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3771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59746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5720" y="0"/>
            <a:ext cx="9144" cy="6858000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9144"/>
          </a:xfrm>
          <a:prstGeom prst="rect">
            <a:avLst/>
          </a:prstGeom>
          <a:solidFill>
            <a:srgbClr val="E0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38912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 spc="200">
                <a:solidFill>
                  <a:srgbClr val="0369A1"/>
                </a:solidFill>
                <a:latin typeface="JetBrains Mono NL"/>
              </a:rPr>
              <a:t>SENTINEL : WHAT APPROACH WE TOOK &amp; WHY : WHAT WE LEARNED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75555" y="411480"/>
            <a:ext cx="1740651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75555" y="402336"/>
            <a:ext cx="174065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 spc="80">
                <a:solidFill>
                  <a:srgbClr val="10A37F"/>
                </a:solidFill>
                <a:latin typeface="JetBrains Mono NL"/>
              </a:rPr>
              <a:t>LEDGER VERIFIED (+-2%)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0140" y="411480"/>
            <a:ext cx="160568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0140" y="402336"/>
            <a:ext cx="160568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 spc="80">
                <a:solidFill>
                  <a:srgbClr val="0369A1"/>
                </a:solidFill>
                <a:latin typeface="JetBrains Mono NL"/>
              </a:rPr>
              <a:t>31 UNIT TESTS PASSED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4726" y="411480"/>
            <a:ext cx="160568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4726" y="402336"/>
            <a:ext cx="160568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" b="1" i="0" spc="80">
                <a:solidFill>
                  <a:srgbClr val="8B5CF6"/>
                </a:solidFill>
                <a:latin typeface="JetBrains Mono NL"/>
              </a:rPr>
              <a:t>UNIFIED L1 / L2 / 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71323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50" b="1" i="0" spc="-40">
                <a:solidFill>
                  <a:srgbClr val="0D1526"/>
                </a:solidFill>
                <a:latin typeface="Inter"/>
              </a:rPr>
              <a:t>Every Architectural Choice Bought Precision, Speed, or Silence.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1280160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19" b="0" i="0" spc="110">
                <a:solidFill>
                  <a:srgbClr val="6B7C96"/>
                </a:solidFill>
                <a:latin typeface="JetBrains Mono NL"/>
              </a:rPr>
              <a:t>APPROACH &amp; TRADE-OFFS : RESILIENCE UNDER 1-HOUR DATASET BOTTLENECK : WHY QWEN3-VL-4B : EMPIRICAL DISCOVERIES.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1591056"/>
            <a:ext cx="5897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60">
                <a:solidFill>
                  <a:srgbClr val="0369A1"/>
                </a:solidFill>
                <a:latin typeface="JetBrains Mono NL"/>
              </a:rPr>
              <a:t>WHAT APPROACH WE TOOK AND WHY : ARCHITECTURAL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1847088"/>
            <a:ext cx="58978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5681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0EA5E9"/>
                </a:solidFill>
                <a:latin typeface="JetBrains Mono NL"/>
              </a:rPr>
              <a:t>MODEL : 4B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2848" y="1956816"/>
            <a:ext cx="10972" cy="676656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9152" y="193852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D1526"/>
                </a:solidFill>
                <a:latin typeface="Inter"/>
              </a:rPr>
              <a:t>Qwen3-VL-4B Instruct in 4-bit (Pareto Frontier)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9152" y="2176272"/>
            <a:ext cx="3840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Hosted APIs banned. 7B/8B takes &gt;4s (OOM on 6GB, blows Speed Bonus). SmolVLM/1B hallucinates. 4B fits in 6GB, runs in 1.4s, dynamic tokens resolve micro-scale objects.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2843784"/>
            <a:ext cx="58978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95351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0EA5E9"/>
                </a:solidFill>
                <a:latin typeface="JetBrains Mono NL"/>
              </a:rPr>
              <a:t>SAMPLING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12848" y="2953512"/>
            <a:ext cx="10972" cy="676656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2935224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D1526"/>
                </a:solidFill>
                <a:latin typeface="Inter"/>
              </a:rPr>
              <a:t>1 FPS Gate + 6-Frame Window with Cerberus Motion Tint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9152" y="3172968"/>
            <a:ext cx="3840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Gate feels motion at 5ms; VLM only inspects multi-frame temporal bursts where suspicious. Faint red motion tint guides visual attention without modifying weights.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3840480"/>
            <a:ext cx="58978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5020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0EA5E9"/>
                </a:solidFill>
                <a:latin typeface="JetBrains Mono NL"/>
              </a:rPr>
              <a:t>TEMPORAL LOGIC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12848" y="3950208"/>
            <a:ext cx="10972" cy="676656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3931920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D1526"/>
                </a:solidFill>
                <a:latin typeface="Inter"/>
              </a:rPr>
              <a:t>5 Physical Shape Priors drive Single Unified Decoder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4169664"/>
            <a:ext cx="3840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Impulse (crashes), ramp (congestion), dwell (stalls), traj (wrong-way), static (fire). Mathematical hysteresis + gap-merge eliminates fragments and guarantees IoU &gt;= 0.5.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" y="4837176"/>
            <a:ext cx="589788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94690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0EA5E9"/>
                </a:solidFill>
                <a:latin typeface="JetBrains Mono NL"/>
              </a:rPr>
              <a:t>SILENCE AS STRATEGY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12848" y="4946904"/>
            <a:ext cx="10972" cy="676656"/>
          </a:xfrm>
          <a:prstGeom prst="rect">
            <a:avLst/>
          </a:prstGeom>
          <a:solidFill>
            <a:srgbClr val="CFD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4928616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0D1526"/>
                </a:solidFill>
                <a:latin typeface="Inter"/>
              </a:rPr>
              <a:t>Calibrated Abstention + Dual-Temperature Self-Consistency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9152" y="5166360"/>
            <a:ext cx="38404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One false alarm on normal zeroes score. If criteria questions fail or T=0 / T=0.6 probes disagree, it strictly outputs normal. Silence protects leaderboard points.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1591056"/>
            <a:ext cx="50227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60">
                <a:solidFill>
                  <a:srgbClr val="0369A1"/>
                </a:solidFill>
                <a:latin typeface="JetBrains Mono NL"/>
              </a:rPr>
              <a:t>WHAT WE LEARNED &amp; THE 1-HOUR DATASET RESILIENCE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93408" y="1847088"/>
            <a:ext cx="502279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93408" y="1938528"/>
            <a:ext cx="41148" cy="71323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956816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E11D48"/>
                </a:solidFill>
                <a:latin typeface="JetBrains Mono NL"/>
              </a:rPr>
              <a:t>DATASET CRISIS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1938528"/>
            <a:ext cx="3331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40">
                <a:solidFill>
                  <a:srgbClr val="0D1526"/>
                </a:solidFill>
                <a:latin typeface="JetBrains Mono NL"/>
              </a:rPr>
              <a:t>TRAINING DATA ARRIVED 1 HOUR BEFORE DEADLINE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2194560"/>
            <a:ext cx="469361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Cloudflare and quota locks blocked training data until 1h before the bell. While others panicked, we built the entire pipeline with base Qwen3-VL-4B zero-shot; when data landed, automated SFT trained in 18 mins with zero panic.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93408" y="2843784"/>
            <a:ext cx="502279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693408" y="2935224"/>
            <a:ext cx="41148" cy="713232"/>
          </a:xfrm>
          <a:prstGeom prst="rect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2953512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0A37F"/>
                </a:solidFill>
                <a:latin typeface="JetBrains Mono NL"/>
              </a:rPr>
              <a:t>GENUINE RESULTS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935224"/>
            <a:ext cx="3331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40">
                <a:solidFill>
                  <a:srgbClr val="0D1526"/>
                </a:solidFill>
                <a:latin typeface="JetBrains Mono NL"/>
              </a:rPr>
              <a:t>AUTHENTIC BASELINE : NO MOCK OR DUMMY CODE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191256"/>
            <a:ext cx="469361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Proved that base Qwen3-VL-4B + structured prompt banking delivers actual, genuine visual detections out-of-the-box. We had a working system hours before receiving training data.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93408" y="3840480"/>
            <a:ext cx="502279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93408" y="3931920"/>
            <a:ext cx="41148" cy="71323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3950208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0EA5E9"/>
                </a:solidFill>
                <a:latin typeface="JetBrains Mono NL"/>
              </a:rPr>
              <a:t>75% TEMPORAL LEVER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3931920"/>
            <a:ext cx="3331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40">
                <a:solidFill>
                  <a:srgbClr val="0D1526"/>
                </a:solidFill>
                <a:latin typeface="JetBrains Mono NL"/>
              </a:rPr>
              <a:t>TEMPORAL RESOLUTION IS 75% OF THE SCORE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4187952"/>
            <a:ext cx="469361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Moving the decoder from ad-hoc smoothing to a first-class mathematical stage was our largest point lever. One unified engine natively solves Level 1, Level 2, and Level 3.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93408" y="4837176"/>
            <a:ext cx="5022799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693408" y="4928616"/>
            <a:ext cx="41148" cy="7132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0" y="4946904"/>
            <a:ext cx="1325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8B5CF6"/>
                </a:solidFill>
                <a:latin typeface="JetBrains Mono NL"/>
              </a:rPr>
              <a:t>ANTI-CONFUSION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4928616"/>
            <a:ext cx="33311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1" i="0" spc="40">
                <a:solidFill>
                  <a:srgbClr val="0D1526"/>
                </a:solidFill>
                <a:latin typeface="JetBrains Mono NL"/>
              </a:rPr>
              <a:t>TWIN MINING FIXES REAL-WORLD FALSE ALARMS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184648"/>
            <a:ext cx="469361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00" b="0" i="0">
                <a:solidFill>
                  <a:srgbClr val="43526B"/>
                </a:solidFill>
                <a:latin typeface="Inter"/>
              </a:rPr>
              <a:t>Diagnosed and eliminated basketball-vs-fighting ambiguity by mining confusable pairs in SFT. Sharpened normal anchors so sports, rain glare, and red lights never trigger alarms.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5488" y="5870448"/>
            <a:ext cx="11240719" cy="475488"/>
          </a:xfrm>
          <a:prstGeom prst="roundRect">
            <a:avLst>
              <a:gd name="adj" fmla="val 14000"/>
            </a:avLst>
          </a:prstGeom>
          <a:solidFill>
            <a:srgbClr val="E6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5488" y="5870448"/>
            <a:ext cx="45720" cy="4754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4088" y="5870448"/>
            <a:ext cx="1078351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19" b="1" i="0" spc="100">
                <a:solidFill>
                  <a:srgbClr val="0369A1"/>
                </a:solidFill>
                <a:latin typeface="JetBrains Mono NL"/>
              </a:rPr>
              <a:t>EVOLUTION ALONG THE WAY (BEFORE -&gt; AFTER) : </a:t>
            </a:r>
            <a:r>
              <a:rPr sz="819" b="0" i="0">
                <a:solidFill>
                  <a:srgbClr val="43526B"/>
                </a:solidFill>
                <a:latin typeface="Inter"/>
              </a:rPr>
              <a:t>Generic 'is there an anomaly?' -&gt; Fine-grained anti-confusion question bank   |   Ad-hoc threshold smoothing -&gt; Physical shape-prior decoder   |   Global night CLAHE everywhere -&gt; Gate-path-only night_lift (preserving pristine VLM textures)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488" y="6542532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60">
                <a:solidFill>
                  <a:srgbClr val="6B7C96"/>
                </a:solidFill>
                <a:latin typeface="JetBrains Mono NL"/>
              </a:rPr>
              <a:t>SENTINEL : REAL-TIME DRONE VIDEO ANOMALY DETECTION : FLYTBASE AHC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24367" y="654253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6B7C96"/>
                </a:solidFill>
                <a:latin typeface="JetBrains Mono NL"/>
              </a:rPr>
              <a:t>2 / 2  :  </a:t>
            </a:r>
            <a:r>
              <a:rPr sz="900" b="1" i="0" spc="120">
                <a:solidFill>
                  <a:srgbClr val="0369A1"/>
                </a:solidFill>
                <a:latin typeface="JetBrains Mono NL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
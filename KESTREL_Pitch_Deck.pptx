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5974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31949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47923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3898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79873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5847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11822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7796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3771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59746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75720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84048"/>
            <a:ext cx="12191695" cy="9144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55664"/>
            <a:ext cx="12191695" cy="9144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120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240">
                <a:solidFill>
                  <a:srgbClr val="0369A1"/>
                </a:solidFill>
                <a:latin typeface="JetBrains Mono NL"/>
              </a:rPr>
              <a:t>KESTREL M300 RTK DOCK · PLANT-01 · ARMED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77095" y="438912"/>
            <a:ext cx="1795881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77095" y="427939"/>
            <a:ext cx="1795881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 spc="120">
                <a:solidFill>
                  <a:srgbClr val="10A37F"/>
                </a:solidFill>
                <a:latin typeface="JetBrains Mono NL"/>
              </a:rPr>
              <a:t>ESTABLISHING LINK</a:t>
            </a:r>
          </a:p>
        </p:txBody>
      </p:sp>
      <p:sp>
        <p:nvSpPr>
          <p:cNvPr id="19" name="Oval 18"/>
          <p:cNvSpPr/>
          <p:nvPr/>
        </p:nvSpPr>
        <p:spPr>
          <a:xfrm>
            <a:off x="9786823" y="525780"/>
            <a:ext cx="64008" cy="64008"/>
          </a:xfrm>
          <a:prstGeom prst="ellipse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1517904"/>
            <a:ext cx="11094415" cy="12801"/>
          </a:xfrm>
          <a:prstGeom prst="rect">
            <a:avLst/>
          </a:prstGeom>
          <a:solidFill>
            <a:srgbClr val="CFD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1783080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 i="0" spc="-200">
                <a:solidFill>
                  <a:srgbClr val="0D1526"/>
                </a:solidFill>
                <a:latin typeface="Inter"/>
              </a:rPr>
              <a:t>KESTREL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724912"/>
            <a:ext cx="1234440" cy="6400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999232"/>
            <a:ext cx="6035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 spc="-50">
                <a:solidFill>
                  <a:srgbClr val="0D1526"/>
                </a:solidFill>
                <a:latin typeface="Inter"/>
              </a:rPr>
              <a:t>The drone security analyst that never blinks.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822191"/>
            <a:ext cx="59893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43526B"/>
                </a:solidFill>
                <a:latin typeface="Inter"/>
              </a:rPr>
              <a:t>Autonomous drone security analyst. A docked patrol drone produces about 57,600 frames per shift — almost all of them show the same empty yard. KESTREL decides which frames deserve attention, remembers context across days, and proves every claim.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956048"/>
            <a:ext cx="996695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945075"/>
            <a:ext cx="996695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 spc="120">
                <a:solidFill>
                  <a:srgbClr val="0369A1"/>
                </a:solidFill>
                <a:latin typeface="JetBrains Mono NL"/>
              </a:rPr>
              <a:t>PERCEIVE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73352" y="4956048"/>
            <a:ext cx="996695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73352" y="4945075"/>
            <a:ext cx="996695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 spc="120">
                <a:solidFill>
                  <a:srgbClr val="0369A1"/>
                </a:solidFill>
                <a:latin typeface="JetBrains Mono NL"/>
              </a:rPr>
              <a:t>REMEMBER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98064" y="4956048"/>
            <a:ext cx="838962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98064" y="4945075"/>
            <a:ext cx="83896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 spc="120">
                <a:solidFill>
                  <a:srgbClr val="0369A1"/>
                </a:solidFill>
                <a:latin typeface="JetBrains Mono NL"/>
              </a:rPr>
              <a:t>REASON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65041" y="4956048"/>
            <a:ext cx="602361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65041" y="4945075"/>
            <a:ext cx="602361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 spc="120">
                <a:solidFill>
                  <a:srgbClr val="0369A1"/>
                </a:solidFill>
                <a:latin typeface="JetBrains Mono NL"/>
              </a:rPr>
              <a:t>ACT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95419" y="4956048"/>
            <a:ext cx="996695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95419" y="4945075"/>
            <a:ext cx="996695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 spc="120">
                <a:solidFill>
                  <a:srgbClr val="0369A1"/>
                </a:solidFill>
                <a:latin typeface="JetBrains Mono NL"/>
              </a:rPr>
              <a:t>CONVERSE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20131" y="4956048"/>
            <a:ext cx="760095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20131" y="4945075"/>
            <a:ext cx="760095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 spc="120">
                <a:solidFill>
                  <a:srgbClr val="0369A1"/>
                </a:solidFill>
                <a:latin typeface="JetBrains Mono NL"/>
              </a:rPr>
              <a:t>PROVE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468112"/>
            <a:ext cx="2163927" cy="384048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457139"/>
            <a:ext cx="216392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 spc="160">
                <a:solidFill>
                  <a:srgbClr val="FFFFFF"/>
                </a:solidFill>
                <a:latin typeface="JetBrains Mono NL"/>
              </a:rPr>
              <a:t>OPEN THE CONSOLE  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877159" y="5468112"/>
            <a:ext cx="1406804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77159" y="5457139"/>
            <a:ext cx="140680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 spc="160">
                <a:solidFill>
                  <a:srgbClr val="0D1526"/>
                </a:solidFill>
                <a:latin typeface="JetBrains Mono NL"/>
              </a:rPr>
              <a:t>ASK KESTREL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903720" y="1783080"/>
            <a:ext cx="4736592" cy="3310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903720" y="1783080"/>
            <a:ext cx="4736592" cy="384048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903720" y="2167128"/>
            <a:ext cx="4736592" cy="10972"/>
          </a:xfrm>
          <a:prstGeom prst="rect">
            <a:avLst/>
          </a:prstGeom>
          <a:solidFill>
            <a:srgbClr val="CFD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104888" y="1938528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278624" y="1938528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452360" y="1938528"/>
            <a:ext cx="82296" cy="82296"/>
          </a:xfrm>
          <a:prstGeom prst="ellipse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80960" y="1783080"/>
            <a:ext cx="382219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 spc="200">
                <a:solidFill>
                  <a:srgbClr val="6B7C96"/>
                </a:solidFill>
                <a:latin typeface="JetBrains Mono NL"/>
              </a:rPr>
              <a:t>PLANT-01 · LIVE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59752" y="2350008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369A1"/>
                </a:solidFill>
                <a:latin typeface="JetBrains Mono NL"/>
              </a:rPr>
              <a:t>gate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20" y="235000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3526B"/>
                </a:solidFill>
                <a:latin typeface="JetBrains Mono NL"/>
              </a:rPr>
              <a:t>perceptual hash · pixel delta · cpu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80192" y="23500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6B7C96"/>
                </a:solidFill>
                <a:latin typeface="JetBrains Mono NL"/>
              </a:rPr>
              <a:t>free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59752" y="2734056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369A1"/>
                </a:solidFill>
                <a:latin typeface="JetBrains Mono NL"/>
              </a:rPr>
              <a:t>detect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75320" y="273405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3526B"/>
                </a:solidFill>
                <a:latin typeface="JetBrains Mono NL"/>
              </a:rPr>
              <a:t>yolo11 on local gpu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80192" y="273405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6B7C96"/>
                </a:solidFill>
                <a:latin typeface="JetBrains Mono NL"/>
              </a:rPr>
              <a:t>~12 ms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59752" y="3118103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369A1"/>
                </a:solidFill>
                <a:latin typeface="JetBrains Mono NL"/>
              </a:rPr>
              <a:t>track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75320" y="3118103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3526B"/>
                </a:solidFill>
                <a:latin typeface="JetBrains Mono NL"/>
              </a:rPr>
              <a:t>bytetrack · identity persists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80192" y="3118103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6B7C96"/>
                </a:solidFill>
                <a:latin typeface="JetBrains Mono NL"/>
              </a:rPr>
              <a:t>~free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59752" y="3502151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369A1"/>
                </a:solidFill>
                <a:latin typeface="JetBrains Mono NL"/>
              </a:rPr>
              <a:t>embed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75320" y="3502151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3526B"/>
                </a:solidFill>
                <a:latin typeface="JetBrains Mono NL"/>
              </a:rPr>
              <a:t>joint vectors · 2048-d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80192" y="3502151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6B7C96"/>
                </a:solidFill>
                <a:latin typeface="JetBrains Mono NL"/>
              </a:rPr>
              <a:t>cheap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59752" y="3886200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369A1"/>
                </a:solidFill>
                <a:latin typeface="JetBrains Mono NL"/>
              </a:rPr>
              <a:t>perceive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75320" y="38862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3526B"/>
                </a:solidFill>
                <a:latin typeface="JetBrains Mono NL"/>
              </a:rPr>
              <a:t>vlm structured scene graph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680192" y="38862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6B7C96"/>
                </a:solidFill>
                <a:latin typeface="JetBrains Mono NL"/>
              </a:rPr>
              <a:t>~1.3 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59752" y="4270248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369A1"/>
                </a:solidFill>
                <a:latin typeface="JetBrains Mono NL"/>
              </a:rPr>
              <a:t>escalate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75320" y="427024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3526B"/>
                </a:solidFill>
                <a:latin typeface="JetBrains Mono NL"/>
              </a:rPr>
              <a:t>deep model · out of band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680192" y="427024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6B7C96"/>
                </a:solidFill>
                <a:latin typeface="JetBrains Mono NL"/>
              </a:rPr>
              <a:t>async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59752" y="4709159"/>
            <a:ext cx="4224527" cy="10972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159752" y="4809744"/>
            <a:ext cx="82296" cy="82296"/>
          </a:xfrm>
          <a:prstGeom prst="ellipse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42631" y="4727448"/>
            <a:ext cx="4005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80">
                <a:solidFill>
                  <a:srgbClr val="10A37F"/>
                </a:solidFill>
                <a:latin typeface="JetBrains Mono NL"/>
              </a:rPr>
              <a:t>7 moments that mattered — 8 h shift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8640" y="6053328"/>
            <a:ext cx="11094415" cy="10972"/>
          </a:xfrm>
          <a:prstGeom prst="rect">
            <a:avLst/>
          </a:prstGeom>
          <a:solidFill>
            <a:srgbClr val="CFD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48640" y="6163056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D1526"/>
                </a:solidFill>
                <a:latin typeface="JetBrains Mono NL"/>
              </a:rPr>
              <a:t>57,600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83080" y="623620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20">
                <a:solidFill>
                  <a:srgbClr val="6B7C96"/>
                </a:solidFill>
                <a:latin typeface="JetBrains Mono NL"/>
              </a:rPr>
              <a:t>FRAMES / SHIFT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26279" y="6163056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D1526"/>
                </a:solidFill>
                <a:latin typeface="JetBrains Mono NL"/>
              </a:rPr>
              <a:t>38.9%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60719" y="623620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20">
                <a:solidFill>
                  <a:srgbClr val="6B7C96"/>
                </a:solidFill>
                <a:latin typeface="JetBrains Mono NL"/>
              </a:rPr>
              <a:t>GATE EFFICIENCY · REAL FOOTAGE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03919" y="6163056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D1526"/>
                </a:solidFill>
                <a:latin typeface="JetBrains Mono NL"/>
              </a:rPr>
              <a:t>8 / 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738359" y="623620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20">
                <a:solidFill>
                  <a:srgbClr val="6B7C96"/>
                </a:solidFill>
                <a:latin typeface="JetBrains Mono NL"/>
              </a:rPr>
              <a:t>SCENARIOS PASS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36815" y="5120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150">
                <a:solidFill>
                  <a:srgbClr val="6B7C96"/>
                </a:solidFill>
                <a:latin typeface="JetBrains Mono N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5974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31949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47923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3898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79873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5847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11822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7796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3771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59746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75720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84048"/>
            <a:ext cx="12191695" cy="9144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55664"/>
            <a:ext cx="12191695" cy="9144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120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260">
                <a:solidFill>
                  <a:srgbClr val="0369A1"/>
                </a:solidFill>
                <a:latin typeface="JetBrains Mono NL"/>
              </a:rPr>
              <a:t>01 · THE 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804672"/>
            <a:ext cx="877824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 spc="-60">
                <a:solidFill>
                  <a:srgbClr val="0D1526"/>
                </a:solidFill>
                <a:latin typeface="Inter"/>
              </a:rPr>
              <a:t>Everything is recorded. Almost nothing is watched.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9695" y="548640"/>
            <a:ext cx="4023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150">
                <a:solidFill>
                  <a:srgbClr val="6B7C96"/>
                </a:solidFill>
                <a:latin typeface="JetBrains Mono NL"/>
              </a:rPr>
              <a:t>KESTREL / THE PROBLEM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627632"/>
            <a:ext cx="11094415" cy="12801"/>
          </a:xfrm>
          <a:prstGeom prst="rect">
            <a:avLst/>
          </a:prstGeom>
          <a:solidFill>
            <a:srgbClr val="CFD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1828800"/>
            <a:ext cx="54864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 b="1" i="0">
                <a:solidFill>
                  <a:srgbClr val="0D1526"/>
                </a:solidFill>
                <a:latin typeface="Inter"/>
              </a:rPr>
              <a:t>Security footage is reviewed after something has already happened.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250" b="0" i="0">
                <a:solidFill>
                  <a:srgbClr val="43526B"/>
                </a:solidFill>
                <a:latin typeface="Inter"/>
              </a:rPr>
              <a:t>A guard cannot watch every camera — and an operator who receives forty alerts a night learns to dismiss all of them. At that point, the system protects nothing.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43526B"/>
                </a:solidFill>
                <a:latin typeface="Inter"/>
              </a:rPr>
              <a:t>Review after the fact can only document loss. The value has to exist in the moment the frame is captured — and only if someone still trusts the alert.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810512"/>
            <a:ext cx="523951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1956816"/>
            <a:ext cx="41148" cy="87782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56832" y="1993392"/>
            <a:ext cx="47823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D1526"/>
                </a:solidFill>
                <a:latin typeface="JetBrains Mono NL"/>
              </a:rPr>
              <a:t>57,600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56832" y="2523744"/>
            <a:ext cx="47640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 spc="30">
                <a:solidFill>
                  <a:srgbClr val="43526B"/>
                </a:solidFill>
                <a:latin typeface="Inter"/>
              </a:rPr>
              <a:t>frames per eight-hour shift — almost all show the same empty yard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090672"/>
            <a:ext cx="523951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3236976"/>
            <a:ext cx="41148" cy="87782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56832" y="3273552"/>
            <a:ext cx="47823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D1526"/>
                </a:solidFill>
                <a:latin typeface="JetBrains Mono NL"/>
              </a:rPr>
              <a:t>40 / night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56832" y="3803904"/>
            <a:ext cx="47640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 spc="30">
                <a:solidFill>
                  <a:srgbClr val="43526B"/>
                </a:solidFill>
                <a:latin typeface="Inter"/>
              </a:rPr>
              <a:t>alerts is enough to teach an operator to dismiss all of them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370832"/>
            <a:ext cx="523951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4517136"/>
            <a:ext cx="41148" cy="877824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56832" y="4553712"/>
            <a:ext cx="47823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D1526"/>
                </a:solidFill>
                <a:latin typeface="JetBrains Mono NL"/>
              </a:rPr>
              <a:t>after the fact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56832" y="5084064"/>
            <a:ext cx="47640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 spc="30">
                <a:solidFill>
                  <a:srgbClr val="43526B"/>
                </a:solidFill>
                <a:latin typeface="Inter"/>
              </a:rPr>
              <a:t>is when footage is reviewed — too late to change the outcome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632704"/>
            <a:ext cx="11094415" cy="786384"/>
          </a:xfrm>
          <a:prstGeom prst="roundRect">
            <a:avLst>
              <a:gd name="adj" fmla="val 12000"/>
            </a:avLst>
          </a:prstGeom>
          <a:solidFill>
            <a:srgbClr val="E6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632704"/>
            <a:ext cx="45720" cy="78638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7" y="5632704"/>
            <a:ext cx="10509199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0D1526"/>
                </a:solidFill>
                <a:latin typeface="Inter"/>
              </a:rPr>
              <a:t>The hard problem is not detection. </a:t>
            </a:r>
            <a:r>
              <a:rPr sz="1300" b="0" i="0">
                <a:solidFill>
                  <a:srgbClr val="43526B"/>
                </a:solidFill>
                <a:latin typeface="Inter"/>
              </a:rPr>
              <a:t>It is deciding what deserves attention, remembering enough context to know, and being right often enough to stay trusted.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542532"/>
            <a:ext cx="6858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6B7C96"/>
                </a:solidFill>
                <a:latin typeface="JetBrains Mono NL"/>
              </a:rPr>
              <a:t>KESTREL — AUTONOMOUS DRONE SECURITY ANALYST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51215" y="6542532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20">
                <a:solidFill>
                  <a:srgbClr val="6B7C96"/>
                </a:solidFill>
                <a:latin typeface="JetBrains Mono NL"/>
              </a:rPr>
              <a:t>THE PROBLEM  ·  </a:t>
            </a:r>
            <a:r>
              <a:rPr sz="900" b="1" i="0" spc="120">
                <a:solidFill>
                  <a:srgbClr val="0369A1"/>
                </a:solidFill>
                <a:latin typeface="JetBrains Mono N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5974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31949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47923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3898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79873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5847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11822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7796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3771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59746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75720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84048"/>
            <a:ext cx="12191695" cy="9144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55664"/>
            <a:ext cx="12191695" cy="9144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120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260">
                <a:solidFill>
                  <a:srgbClr val="0369A1"/>
                </a:solidFill>
                <a:latin typeface="JetBrains Mono NL"/>
              </a:rPr>
              <a:t>02 · THE CONSTRAINT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804672"/>
            <a:ext cx="877824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 spc="-60">
                <a:solidFill>
                  <a:srgbClr val="0D1526"/>
                </a:solidFill>
                <a:latin typeface="Inter"/>
              </a:rPr>
              <a:t>One number shaped every decision.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9695" y="548640"/>
            <a:ext cx="4023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150">
                <a:solidFill>
                  <a:srgbClr val="6B7C96"/>
                </a:solidFill>
                <a:latin typeface="JetBrains Mono NL"/>
              </a:rPr>
              <a:t>KESTREL / HOW IT WORKS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627632"/>
            <a:ext cx="11094415" cy="12801"/>
          </a:xfrm>
          <a:prstGeom prst="rect">
            <a:avLst/>
          </a:prstGeom>
          <a:solidFill>
            <a:srgbClr val="CFD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1874519"/>
            <a:ext cx="48920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21488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80">
                <a:solidFill>
                  <a:srgbClr val="6B7C96"/>
                </a:solidFill>
                <a:latin typeface="JetBrains Mono NL"/>
              </a:rPr>
              <a:t>THE FREE INFERENCE TIER ALLOWS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2514600"/>
            <a:ext cx="4114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0369A1"/>
                </a:solidFill>
                <a:latin typeface="JetBrains Mono NL"/>
              </a:rPr>
              <a:t>≈ 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52044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43526B"/>
                </a:solidFill>
                <a:latin typeface="JetBrains Mono NL"/>
              </a:rPr>
              <a:t>REQUESTS / MINUTE</a:t>
            </a:r>
          </a:p>
        </p:txBody>
      </p:sp>
      <p:sp>
        <p:nvSpPr>
          <p:cNvPr id="24" name="Chevron 23"/>
          <p:cNvSpPr/>
          <p:nvPr/>
        </p:nvSpPr>
        <p:spPr>
          <a:xfrm>
            <a:off x="5806440" y="2788920"/>
            <a:ext cx="566928" cy="457200"/>
          </a:xfrm>
          <a:prstGeom prst="chevron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748272" y="1874519"/>
            <a:ext cx="48920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14032" y="21488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80">
                <a:solidFill>
                  <a:srgbClr val="6B7C96"/>
                </a:solidFill>
                <a:latin typeface="JetBrains Mono NL"/>
              </a:rPr>
              <a:t>A DOCKED PATROL DRONE PRODUCES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2" y="2514600"/>
            <a:ext cx="4114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0D1526"/>
                </a:solidFill>
                <a:latin typeface="JetBrains Mono NL"/>
              </a:rPr>
              <a:t>57,600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4032" y="352044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43526B"/>
                </a:solidFill>
                <a:latin typeface="JetBrains Mono NL"/>
              </a:rPr>
              <a:t>FRAMES / SHIFT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526280"/>
            <a:ext cx="11094415" cy="1371600"/>
          </a:xfrm>
          <a:prstGeom prst="roundRect">
            <a:avLst>
              <a:gd name="adj" fmla="val 12000"/>
            </a:avLst>
          </a:prstGeom>
          <a:solidFill>
            <a:srgbClr val="E6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526280"/>
            <a:ext cx="45720" cy="13716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7" y="4526280"/>
            <a:ext cx="10509199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0D1526"/>
                </a:solidFill>
                <a:latin typeface="Inter"/>
              </a:rPr>
              <a:t>Captioning every frame is impossible and pointless. </a:t>
            </a:r>
            <a:r>
              <a:rPr sz="1400" b="0" i="0">
                <a:solidFill>
                  <a:srgbClr val="43526B"/>
                </a:solidFill>
                <a:latin typeface="Inter"/>
              </a:rPr>
              <a:t>Every architectural decision in KESTREL follows from that one constraint — spend nothing on frames that show nothing, and every expensive call only on the frames that earn it.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542532"/>
            <a:ext cx="6858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6B7C96"/>
                </a:solidFill>
                <a:latin typeface="JetBrains Mono NL"/>
              </a:rPr>
              <a:t>KESTREL — AUTONOMOUS DRONE SECURITY ANALYST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1215" y="6542532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20">
                <a:solidFill>
                  <a:srgbClr val="6B7C96"/>
                </a:solidFill>
                <a:latin typeface="JetBrains Mono NL"/>
              </a:rPr>
              <a:t>THE CONSTRAINT  ·  </a:t>
            </a:r>
            <a:r>
              <a:rPr sz="900" b="1" i="0" spc="120">
                <a:solidFill>
                  <a:srgbClr val="0369A1"/>
                </a:solidFill>
                <a:latin typeface="JetBrains Mono N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5974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31949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47923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3898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79873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5847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11822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7796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3771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59746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75720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84048"/>
            <a:ext cx="12191695" cy="9144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55664"/>
            <a:ext cx="12191695" cy="9144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120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260">
                <a:solidFill>
                  <a:srgbClr val="0369A1"/>
                </a:solidFill>
                <a:latin typeface="JetBrains Mono NL"/>
              </a:rPr>
              <a:t>03 · HOW IT WORKS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804672"/>
            <a:ext cx="877824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 spc="-60">
                <a:solidFill>
                  <a:srgbClr val="0D1526"/>
                </a:solidFill>
                <a:latin typeface="Inter"/>
              </a:rPr>
              <a:t>Five tiers. Each runs only when the tier before it earns the spend.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9695" y="548640"/>
            <a:ext cx="4023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150">
                <a:solidFill>
                  <a:srgbClr val="6B7C96"/>
                </a:solidFill>
                <a:latin typeface="JetBrains Mono NL"/>
              </a:rPr>
              <a:t>KESTREL / PIPELINE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627632"/>
            <a:ext cx="11094415" cy="12801"/>
          </a:xfrm>
          <a:prstGeom prst="rect">
            <a:avLst/>
          </a:prstGeom>
          <a:solidFill>
            <a:srgbClr val="CFD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1810512"/>
            <a:ext cx="3515258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1810512"/>
            <a:ext cx="3515258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2029967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EA5E9"/>
                </a:solidFill>
                <a:latin typeface="JetBrains Mono NL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2084831"/>
            <a:ext cx="150357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spc="40">
                <a:solidFill>
                  <a:srgbClr val="0D1526"/>
                </a:solidFill>
                <a:latin typeface="Inter"/>
              </a:rPr>
              <a:t>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2338" y="212140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0369A1"/>
                </a:solidFill>
                <a:latin typeface="JetBrains Mono NL"/>
              </a:rPr>
              <a:t>FREE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" y="2596896"/>
            <a:ext cx="3039770" cy="10972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2743200"/>
            <a:ext cx="3039770" cy="987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43526B"/>
                </a:solidFill>
                <a:latin typeface="Inter"/>
              </a:rPr>
              <a:t>Perceptual hash, pixel delta and embedding novelty, all on CPU. Decides whether a frame is worth spending anything on at all.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38218" y="1810512"/>
            <a:ext cx="3515258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38218" y="1810512"/>
            <a:ext cx="3515258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5962" y="2029967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EA5E9"/>
                </a:solidFill>
                <a:latin typeface="JetBrains Mono NL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98338" y="2084831"/>
            <a:ext cx="150357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spc="40">
                <a:solidFill>
                  <a:srgbClr val="0D1526"/>
                </a:solidFill>
                <a:latin typeface="Inter"/>
              </a:rPr>
              <a:t>DETECT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01916" y="212140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0369A1"/>
                </a:solidFill>
                <a:latin typeface="JetBrains Mono NL"/>
              </a:rPr>
              <a:t>~12 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5962" y="2596896"/>
            <a:ext cx="3039770" cy="10972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5962" y="2743200"/>
            <a:ext cx="3039770" cy="987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43526B"/>
                </a:solidFill>
                <a:latin typeface="Inter"/>
              </a:rPr>
              <a:t>YOLO11 on the local GPU, or Grounding DINO when the query is open-vocabulary. On-device — no API budget, no rate limit.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27796" y="1810512"/>
            <a:ext cx="3515258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27796" y="1810512"/>
            <a:ext cx="3515258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65540" y="2029967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EA5E9"/>
                </a:solidFill>
                <a:latin typeface="JetBrains Mono NL"/>
              </a:rPr>
              <a:t>1.5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87916" y="2084831"/>
            <a:ext cx="150357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spc="40">
                <a:solidFill>
                  <a:srgbClr val="0D1526"/>
                </a:solidFill>
                <a:latin typeface="Inter"/>
              </a:rPr>
              <a:t>TRACK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91495" y="212140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0369A1"/>
                </a:solidFill>
                <a:latin typeface="JetBrains Mono NL"/>
              </a:rPr>
              <a:t>~FREE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65540" y="2596896"/>
            <a:ext cx="3039770" cy="10972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65540" y="2743200"/>
            <a:ext cx="3039770" cy="987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43526B"/>
                </a:solidFill>
                <a:latin typeface="Inter"/>
              </a:rPr>
              <a:t>ByteTrack. Identity that persists across frames. Without it, every claim about duration is a guess.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4169663"/>
            <a:ext cx="3515258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4169663"/>
            <a:ext cx="3515258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4389120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EA5E9"/>
                </a:solidFill>
                <a:latin typeface="JetBrains Mono NL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08760" y="4443983"/>
            <a:ext cx="150357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spc="40">
                <a:solidFill>
                  <a:srgbClr val="0D1526"/>
                </a:solidFill>
                <a:latin typeface="Inter"/>
              </a:rPr>
              <a:t>EMBED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12338" y="4480559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0369A1"/>
                </a:solidFill>
                <a:latin typeface="JetBrains Mono NL"/>
              </a:rPr>
              <a:t>CHEAP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6384" y="4956048"/>
            <a:ext cx="3039770" cy="10972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5102352"/>
            <a:ext cx="3039770" cy="987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43526B"/>
                </a:solidFill>
                <a:latin typeface="Inter"/>
              </a:rPr>
              <a:t>Joint image/text vectors in one 2048-dimension space, for re-identification and search that works on appearance.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38218" y="4169663"/>
            <a:ext cx="3515258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38218" y="4169663"/>
            <a:ext cx="3515258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5962" y="4389120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EA5E9"/>
                </a:solidFill>
                <a:latin typeface="JetBrains Mono NL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98338" y="4443983"/>
            <a:ext cx="150357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spc="40">
                <a:solidFill>
                  <a:srgbClr val="0D1526"/>
                </a:solidFill>
                <a:latin typeface="Inter"/>
              </a:rPr>
              <a:t>PERCEIVE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01916" y="4480559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0369A1"/>
                </a:solidFill>
                <a:latin typeface="JetBrains Mono NL"/>
              </a:rPr>
              <a:t>~1.3 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5962" y="4956048"/>
            <a:ext cx="3039770" cy="10972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5962" y="5102352"/>
            <a:ext cx="3039770" cy="987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43526B"/>
                </a:solidFill>
                <a:latin typeface="Inter"/>
              </a:rPr>
              <a:t>A vision-language model returns a structured scene graph: objects, colours, activities, anomalies. Never prose.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127796" y="4169663"/>
            <a:ext cx="3515258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127796" y="4169663"/>
            <a:ext cx="3515258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65540" y="4389120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EA5E9"/>
                </a:solidFill>
                <a:latin typeface="JetBrains Mono NL"/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87916" y="4443983"/>
            <a:ext cx="150357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spc="40">
                <a:solidFill>
                  <a:srgbClr val="0D1526"/>
                </a:solidFill>
                <a:latin typeface="Inter"/>
              </a:rPr>
              <a:t>ESCALATE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91495" y="4480559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0369A1"/>
                </a:solidFill>
                <a:latin typeface="JetBrains Mono NL"/>
              </a:rPr>
              <a:t>ASYNC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65540" y="4956048"/>
            <a:ext cx="3039770" cy="10972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65540" y="5102352"/>
            <a:ext cx="3039770" cy="987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43526B"/>
                </a:solidFill>
                <a:latin typeface="Inter"/>
              </a:rPr>
              <a:t>The deep model measured 57–84 s, so it runs out of band and upgrades the record afterwards, split by the kind of doubt.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6542532"/>
            <a:ext cx="6858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6B7C96"/>
                </a:solidFill>
                <a:latin typeface="JetBrains Mono NL"/>
              </a:rPr>
              <a:t>KESTREL — AUTONOMOUS DRONE SECURITY ANALYST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51215" y="6542532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20">
                <a:solidFill>
                  <a:srgbClr val="6B7C96"/>
                </a:solidFill>
                <a:latin typeface="JetBrains Mono NL"/>
              </a:rPr>
              <a:t>PIPELINE  ·  </a:t>
            </a:r>
            <a:r>
              <a:rPr sz="900" b="1" i="0" spc="120">
                <a:solidFill>
                  <a:srgbClr val="0369A1"/>
                </a:solidFill>
                <a:latin typeface="JetBrains Mono N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5974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31949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47923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3898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79873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5847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11822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7796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3771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59746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75720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84048"/>
            <a:ext cx="12191695" cy="9144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55664"/>
            <a:ext cx="12191695" cy="9144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120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260">
                <a:solidFill>
                  <a:srgbClr val="0369A1"/>
                </a:solidFill>
                <a:latin typeface="JetBrains Mono NL"/>
              </a:rPr>
              <a:t>03 · HONEST MEASUREMENT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804672"/>
            <a:ext cx="877824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 spc="-60">
                <a:solidFill>
                  <a:srgbClr val="0D1526"/>
                </a:solidFill>
                <a:latin typeface="Inter"/>
              </a:rPr>
              <a:t>38.9% on real footage. Both numbers, with their conditions.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9695" y="548640"/>
            <a:ext cx="4023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150">
                <a:solidFill>
                  <a:srgbClr val="6B7C96"/>
                </a:solidFill>
                <a:latin typeface="JetBrains Mono NL"/>
              </a:rPr>
              <a:t>KESTREL / GATE EFFICIENCY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627632"/>
            <a:ext cx="11094415" cy="12801"/>
          </a:xfrm>
          <a:prstGeom prst="rect">
            <a:avLst/>
          </a:prstGeom>
          <a:solidFill>
            <a:srgbClr val="CFD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1874519"/>
            <a:ext cx="98142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20">
                <a:solidFill>
                  <a:srgbClr val="0D1526"/>
                </a:solidFill>
                <a:latin typeface="JetBrains Mono NL"/>
              </a:rPr>
              <a:t>GATE EFFICIENCY — REAL FOOTAGE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62895" y="1837943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0EA5E9"/>
                </a:solidFill>
                <a:latin typeface="JetBrains Mono NL"/>
              </a:rPr>
              <a:t>38.9%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221991"/>
            <a:ext cx="11094415" cy="310896"/>
          </a:xfrm>
          <a:prstGeom prst="roundRect">
            <a:avLst>
              <a:gd name="adj" fmla="val 50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2221991"/>
            <a:ext cx="4315727" cy="310896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624327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40">
                <a:solidFill>
                  <a:srgbClr val="6B7C96"/>
                </a:solidFill>
                <a:latin typeface="JetBrains Mono NL"/>
              </a:rPr>
              <a:t>cv demo reels authored for continuous motion — close to worst case for a gate that skips static frames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017520"/>
            <a:ext cx="98142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20">
                <a:solidFill>
                  <a:srgbClr val="0D1526"/>
                </a:solidFill>
                <a:latin typeface="JetBrains Mono NL"/>
              </a:rPr>
              <a:t>GATE EFFICIENCY — CONSTRUCTED IDLE CONTEXT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62895" y="2980944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10A37F"/>
                </a:solidFill>
                <a:latin typeface="JetBrains Mono NL"/>
              </a:rPr>
              <a:t>96.7%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364991"/>
            <a:ext cx="11094415" cy="310896"/>
          </a:xfrm>
          <a:prstGeom prst="roundRect">
            <a:avLst>
              <a:gd name="adj" fmla="val 50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8640" y="3364991"/>
            <a:ext cx="10728299" cy="310896"/>
          </a:xfrm>
          <a:prstGeom prst="roundRect">
            <a:avLst>
              <a:gd name="adj" fmla="val 50000"/>
            </a:avLst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76732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40">
                <a:solidFill>
                  <a:srgbClr val="6B7C96"/>
                </a:solidFill>
                <a:latin typeface="JetBrains Mono NL"/>
              </a:rPr>
              <a:t>static idle footage — the condition the gate was designed for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977390" y="3017520"/>
            <a:ext cx="18288" cy="694944"/>
          </a:xfrm>
          <a:prstGeom prst="rect">
            <a:avLst/>
          </a:prstGeom>
          <a:solidFill>
            <a:srgbClr val="6B7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60070" y="3803904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120">
                <a:solidFill>
                  <a:srgbClr val="6B7C96"/>
                </a:solidFill>
                <a:latin typeface="JetBrains Mono NL"/>
              </a:rPr>
              <a:t>DESIGN PLAN ≈ 94%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224528"/>
            <a:ext cx="11094415" cy="1417320"/>
          </a:xfrm>
          <a:prstGeom prst="roundRect">
            <a:avLst>
              <a:gd name="adj" fmla="val 12000"/>
            </a:avLst>
          </a:prstGeom>
          <a:solidFill>
            <a:srgbClr val="E6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224528"/>
            <a:ext cx="45720" cy="14173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7" y="4224528"/>
            <a:ext cx="10509199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0D1526"/>
                </a:solidFill>
                <a:latin typeface="Inter"/>
              </a:rPr>
              <a:t>The design plan predicted about 94%. Measurement said 38.9%. </a:t>
            </a:r>
            <a:r>
              <a:rPr sz="1350" b="0" i="0">
                <a:solidFill>
                  <a:srgbClr val="43526B"/>
                </a:solidFill>
                <a:latin typeface="Inter"/>
              </a:rPr>
              <a:t>Every licence-clean clip available is a CV demo reel authored for continuous motion — close to worst case for a gate that skips static frames. Both figures are reported, with their conditions, rather than only the flattering one.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542532"/>
            <a:ext cx="6858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6B7C96"/>
                </a:solidFill>
                <a:latin typeface="JetBrains Mono NL"/>
              </a:rPr>
              <a:t>KESTREL — AUTONOMOUS DRONE SECURITY ANALYST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1215" y="6542532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20">
                <a:solidFill>
                  <a:srgbClr val="6B7C96"/>
                </a:solidFill>
                <a:latin typeface="JetBrains Mono NL"/>
              </a:rPr>
              <a:t>GATE EFFICIENCY  ·  </a:t>
            </a:r>
            <a:r>
              <a:rPr sz="900" b="1" i="0" spc="120">
                <a:solidFill>
                  <a:srgbClr val="0369A1"/>
                </a:solidFill>
                <a:latin typeface="JetBrains Mono N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5974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31949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47923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3898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79873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5847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11822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7796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3771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59746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75720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84048"/>
            <a:ext cx="12191695" cy="9144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55664"/>
            <a:ext cx="12191695" cy="9144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120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260">
                <a:solidFill>
                  <a:srgbClr val="0369A1"/>
                </a:solidFill>
                <a:latin typeface="JetBrains Mono NL"/>
              </a:rPr>
              <a:t>04 · BEYOND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804672"/>
            <a:ext cx="877824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 spc="-60">
                <a:solidFill>
                  <a:srgbClr val="0D1526"/>
                </a:solidFill>
                <a:latin typeface="Inter"/>
              </a:rPr>
              <a:t>Nine capabilities the brief did not ask for.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9695" y="548640"/>
            <a:ext cx="4023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150">
                <a:solidFill>
                  <a:srgbClr val="6B7C96"/>
                </a:solidFill>
                <a:latin typeface="JetBrains Mono NL"/>
              </a:rPr>
              <a:t>KESTREL / CAPABILITIES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627632"/>
            <a:ext cx="11094415" cy="12801"/>
          </a:xfrm>
          <a:prstGeom prst="rect">
            <a:avLst/>
          </a:prstGeom>
          <a:solidFill>
            <a:srgbClr val="CFD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1773936"/>
            <a:ext cx="3515258" cy="142646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1920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EA5E9"/>
                </a:solidFill>
                <a:latin typeface="JetBrains Mono NL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2139696"/>
            <a:ext cx="31129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D1526"/>
                </a:solidFill>
                <a:latin typeface="Inter"/>
              </a:rPr>
              <a:t>Rules you write in English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2432304"/>
            <a:ext cx="311292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43526B"/>
                </a:solidFill>
                <a:latin typeface="Inter"/>
              </a:rPr>
              <a:t>Type a requirement, get a validated temporal rule — then preview what it would have done against indexed history before it may fire.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38218" y="1773936"/>
            <a:ext cx="3515258" cy="142646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39386" y="1920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EA5E9"/>
                </a:solidFill>
                <a:latin typeface="JetBrains Mono NL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39386" y="2139696"/>
            <a:ext cx="31129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D1526"/>
                </a:solidFill>
                <a:latin typeface="Inter"/>
              </a:rPr>
              <a:t>Open-vocabulary detection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9386" y="2432304"/>
            <a:ext cx="311292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43526B"/>
                </a:solidFill>
                <a:latin typeface="Inter"/>
              </a:rPr>
              <a:t>Ask for “a traffic cone” and the detector grounds the phrase directly — no retraining, no fixed class list.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27796" y="1773936"/>
            <a:ext cx="3515258" cy="142646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8964" y="1920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EA5E9"/>
                </a:solidFill>
                <a:latin typeface="JetBrains Mono NL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8964" y="2139696"/>
            <a:ext cx="31129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D1526"/>
                </a:solidFill>
                <a:latin typeface="Inter"/>
              </a:rPr>
              <a:t>Memory that spans days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8964" y="2432304"/>
            <a:ext cx="311292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43526B"/>
                </a:solidFill>
                <a:latin typeface="Inter"/>
              </a:rPr>
              <a:t>The same vehicle, seventh visit, first time ever after midnight. No single frame is alarming; only the pattern is.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3474720"/>
            <a:ext cx="3515258" cy="142646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362102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EA5E9"/>
                </a:solidFill>
                <a:latin typeface="JetBrains Mono NL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3840480"/>
            <a:ext cx="31129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D1526"/>
                </a:solidFill>
                <a:latin typeface="Inter"/>
              </a:rPr>
              <a:t>A temporal memory pyramid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4133087"/>
            <a:ext cx="311292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43526B"/>
                </a:solidFill>
                <a:latin typeface="Inter"/>
              </a:rPr>
              <a:t>Frame → clip → event → shift → day, weighted by salience — eight hours collapses to ~12,000 queryable tokens.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38218" y="3474720"/>
            <a:ext cx="3515258" cy="142646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9386" y="362102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EA5E9"/>
                </a:solidFill>
                <a:latin typeface="JetBrains Mono NL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39386" y="3840480"/>
            <a:ext cx="31129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D1526"/>
                </a:solidFill>
                <a:latin typeface="Inter"/>
              </a:rPr>
              <a:t>A normalcy baseline that abstains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39386" y="4133087"/>
            <a:ext cx="311292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43526B"/>
                </a:solidFill>
                <a:latin typeface="Inter"/>
              </a:rPr>
              <a:t>Counts per zone, hour and class, z-scored — it declines to judge anything until it has three days of history.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27796" y="3474720"/>
            <a:ext cx="3515258" cy="142646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28964" y="362102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EA5E9"/>
                </a:solidFill>
                <a:latin typeface="JetBrains Mono NL"/>
              </a:rPr>
              <a:t>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8964" y="3840480"/>
            <a:ext cx="31129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D1526"/>
                </a:solidFill>
                <a:latin typeface="Inter"/>
              </a:rPr>
              <a:t>Alerts you can fly to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8964" y="4133087"/>
            <a:ext cx="311292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43526B"/>
                </a:solidFill>
                <a:latin typeface="Inter"/>
              </a:rPr>
              <a:t>Geo-projected coordinates, accuracy radius, bearing, ETA and a geofence check — not just a description of what happened.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175504"/>
            <a:ext cx="3515258" cy="142646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808" y="532180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EA5E9"/>
                </a:solidFill>
                <a:latin typeface="JetBrains Mono NL"/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8" y="5541264"/>
            <a:ext cx="31129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D1526"/>
                </a:solidFill>
                <a:latin typeface="Inter"/>
              </a:rPr>
              <a:t>Findings only a fleet reveals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8" y="5833872"/>
            <a:ext cx="311292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43526B"/>
                </a:solidFill>
                <a:latin typeface="Inter"/>
              </a:rPr>
              <a:t>A subject seen at three sites in five days is a reconnaissance pattern no single site could possibly detect.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38218" y="5175504"/>
            <a:ext cx="3515258" cy="142646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39386" y="532180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EA5E9"/>
                </a:solidFill>
                <a:latin typeface="JetBrains Mono NL"/>
              </a:rPr>
              <a:t>08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39386" y="5541264"/>
            <a:ext cx="31129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D1526"/>
                </a:solidFill>
                <a:latin typeface="Inter"/>
              </a:rPr>
              <a:t>Search that understands appearance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39386" y="5833872"/>
            <a:ext cx="311292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43526B"/>
                </a:solidFill>
                <a:latin typeface="Inter"/>
              </a:rPr>
              <a:t>SQL, caption vectors and image vectors fused by reciprocal rank — “a white pickup” finds frames whose captions never said it.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127796" y="5175504"/>
            <a:ext cx="3515258" cy="142646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28964" y="532180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EA5E9"/>
                </a:solidFill>
                <a:latin typeface="JetBrains Mono NL"/>
              </a:rPr>
              <a:t>09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8964" y="5541264"/>
            <a:ext cx="31129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D1526"/>
                </a:solidFill>
                <a:latin typeface="Inter"/>
              </a:rPr>
              <a:t>Prove, not claim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8964" y="5833872"/>
            <a:ext cx="311292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43526B"/>
                </a:solidFill>
                <a:latin typeface="Inter"/>
              </a:rPr>
              <a:t>Every measured number is produced by a benchmark in the repository — precision, recall and gate efficiency included.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542532"/>
            <a:ext cx="6858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6B7C96"/>
                </a:solidFill>
                <a:latin typeface="JetBrains Mono NL"/>
              </a:rPr>
              <a:t>KESTREL — AUTONOMOUS DRONE SECURITY ANALYST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51215" y="6542532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20">
                <a:solidFill>
                  <a:srgbClr val="6B7C96"/>
                </a:solidFill>
                <a:latin typeface="JetBrains Mono NL"/>
              </a:rPr>
              <a:t>CAPABILITIES  ·  </a:t>
            </a:r>
            <a:r>
              <a:rPr sz="900" b="1" i="0" spc="120">
                <a:solidFill>
                  <a:srgbClr val="0369A1"/>
                </a:solidFill>
                <a:latin typeface="JetBrains Mono N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5974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31949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47923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3898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79873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5847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11822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7796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3771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59746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75720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84048"/>
            <a:ext cx="12191695" cy="9144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55664"/>
            <a:ext cx="12191695" cy="9144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120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260">
                <a:solidFill>
                  <a:srgbClr val="0369A1"/>
                </a:solidFill>
                <a:latin typeface="JetBrains Mono NL"/>
              </a:rPr>
              <a:t>05 · ALERTS YOU CAN FLY 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804672"/>
            <a:ext cx="877824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 spc="-60">
                <a:solidFill>
                  <a:srgbClr val="0D1526"/>
                </a:solidFill>
                <a:latin typeface="Inter"/>
              </a:rPr>
              <a:t>A coordinate, not a description.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9695" y="548640"/>
            <a:ext cx="4023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150">
                <a:solidFill>
                  <a:srgbClr val="6B7C96"/>
                </a:solidFill>
                <a:latin typeface="JetBrains Mono NL"/>
              </a:rPr>
              <a:t>KESTREL / DISPATCH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627632"/>
            <a:ext cx="11094415" cy="12801"/>
          </a:xfrm>
          <a:prstGeom prst="rect">
            <a:avLst/>
          </a:prstGeom>
          <a:solidFill>
            <a:srgbClr val="CFD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1810512"/>
            <a:ext cx="576072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1920240"/>
            <a:ext cx="50292" cy="3346704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2029967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60">
                <a:solidFill>
                  <a:srgbClr val="E11D48"/>
                </a:solidFill>
                <a:latin typeface="JetBrains Mono NL"/>
              </a:rPr>
              <a:t>● PERSON IN RESTRICTED 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2340864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120">
                <a:solidFill>
                  <a:srgbClr val="6B7C96"/>
                </a:solidFill>
                <a:latin typeface="JetBrains Mono NL"/>
              </a:rPr>
              <a:t>02:14  ·  ALT-0a15-0007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7" y="2706624"/>
            <a:ext cx="5175504" cy="10972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" y="285292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40">
                <a:solidFill>
                  <a:srgbClr val="6B7C96"/>
                </a:solidFill>
                <a:latin typeface="JetBrains Mono NL"/>
              </a:rPr>
              <a:t>COORDINATES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2825496"/>
            <a:ext cx="29260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0D1526"/>
                </a:solidFill>
                <a:latin typeface="JetBrains Mono NL"/>
              </a:rPr>
              <a:t>18.760018, 73.862886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" y="326440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40">
                <a:solidFill>
                  <a:srgbClr val="6B7C96"/>
                </a:solidFill>
                <a:latin typeface="JetBrains Mono NL"/>
              </a:rPr>
              <a:t>ACCURACY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3236976"/>
            <a:ext cx="29260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0D1526"/>
                </a:solidFill>
                <a:latin typeface="JetBrains Mono NL"/>
              </a:rPr>
              <a:t>± 4.9 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" y="367588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40">
                <a:solidFill>
                  <a:srgbClr val="6B7C96"/>
                </a:solidFill>
                <a:latin typeface="JetBrains Mono NL"/>
              </a:rPr>
              <a:t>BEARING FROM DOCK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63240" y="3648456"/>
            <a:ext cx="29260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0D1526"/>
                </a:solidFill>
                <a:latin typeface="JetBrains Mono NL"/>
              </a:rPr>
              <a:t>041°  ·  212 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7" y="408736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40">
                <a:solidFill>
                  <a:srgbClr val="6B7C96"/>
                </a:solidFill>
                <a:latin typeface="JetBrains Mono NL"/>
              </a:rPr>
              <a:t>ETA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3240" y="4059936"/>
            <a:ext cx="29260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0D1526"/>
                </a:solidFill>
                <a:latin typeface="JetBrains Mono NL"/>
              </a:rPr>
              <a:t>1 MIN 04 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7" y="449884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40">
                <a:solidFill>
                  <a:srgbClr val="6B7C96"/>
                </a:solidFill>
                <a:latin typeface="JetBrains Mono NL"/>
              </a:rPr>
              <a:t>RECOMMENDED ALT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63240" y="4471416"/>
            <a:ext cx="29260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0D1526"/>
                </a:solidFill>
                <a:latin typeface="JetBrains Mono NL"/>
              </a:rPr>
              <a:t>28 M AGL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7" y="491032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40">
                <a:solidFill>
                  <a:srgbClr val="6B7C96"/>
                </a:solidFill>
                <a:latin typeface="JetBrains Mono NL"/>
              </a:rPr>
              <a:t>GEOFENCE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63240" y="4882896"/>
            <a:ext cx="29260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0A37F"/>
                </a:solidFill>
                <a:latin typeface="JetBrains Mono NL"/>
              </a:rPr>
              <a:t>INSIDE · CLEARED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1874519"/>
            <a:ext cx="48920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1200"/>
              </a:spcAft>
            </a:pPr>
            <a:r>
              <a:rPr sz="1200" b="0" i="0">
                <a:solidFill>
                  <a:srgbClr val="43526B"/>
                </a:solidFill>
                <a:latin typeface="Inter"/>
              </a:rPr>
              <a:t>Geo-projected to ground truth through the telemetry — altitude, gimbal pitch and yaw — with an honest accuracy radius derived from the projection geometry rather than asserted.</a:t>
            </a:r>
          </a:p>
          <a:p>
            <a:pPr algn="l">
              <a:lnSpc>
                <a:spcPct val="140000"/>
              </a:lnSpc>
              <a:spcAft>
                <a:spcPts val="1200"/>
              </a:spcAft>
            </a:pPr>
            <a:r>
              <a:rPr sz="1200" b="0" i="0">
                <a:solidFill>
                  <a:srgbClr val="43526B"/>
                </a:solidFill>
                <a:latin typeface="Inter"/>
              </a:rPr>
              <a:t>Bearing and ETA from the dock, a recommended stand-off altitude, and a geofence verdict.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43526B"/>
                </a:solidFill>
                <a:latin typeface="Inter"/>
              </a:rPr>
              <a:t>The decision in front of the operator becomes </a:t>
            </a:r>
            <a:r>
              <a:rPr sz="1200" b="1" i="0">
                <a:solidFill>
                  <a:srgbClr val="0369A1"/>
                </a:solidFill>
                <a:latin typeface="Inter"/>
              </a:rPr>
              <a:t>“launch or do not”</a:t>
            </a:r>
            <a:r>
              <a:rPr sz="1200" b="0" i="0">
                <a:solidFill>
                  <a:srgbClr val="43526B"/>
                </a:solidFill>
                <a:latin typeface="Inter"/>
              </a:rPr>
              <a:t> rather than “interpret this”.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20840" y="4617720"/>
            <a:ext cx="4892040" cy="758952"/>
          </a:xfrm>
          <a:prstGeom prst="roundRect">
            <a:avLst>
              <a:gd name="adj" fmla="val 12000"/>
            </a:avLst>
          </a:prstGeom>
          <a:solidFill>
            <a:srgbClr val="E6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720840" y="4617720"/>
            <a:ext cx="45720" cy="75895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13448" y="4617720"/>
            <a:ext cx="4306824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0D1526"/>
                </a:solidFill>
                <a:latin typeface="Inter"/>
              </a:rPr>
              <a:t>A coordinate with false precision is worse than no coordinate at all.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532120"/>
            <a:ext cx="5760720" cy="758952"/>
          </a:xfrm>
          <a:prstGeom prst="roundRect">
            <a:avLst>
              <a:gd name="adj" fmla="val 12000"/>
            </a:avLst>
          </a:prstGeom>
          <a:solidFill>
            <a:srgbClr val="E6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5532120"/>
            <a:ext cx="45720" cy="75895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7" y="5532120"/>
            <a:ext cx="5175504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43526B"/>
                </a:solidFill>
                <a:latin typeface="Inter"/>
              </a:rPr>
              <a:t>Flat-ground homography — the accuracy radius grows with slant range, and the projection is stated as an estimate.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542532"/>
            <a:ext cx="6858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6B7C96"/>
                </a:solidFill>
                <a:latin typeface="JetBrains Mono NL"/>
              </a:rPr>
              <a:t>KESTREL — AUTONOMOUS DRONE SECURITY ANALYST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51215" y="6542532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20">
                <a:solidFill>
                  <a:srgbClr val="6B7C96"/>
                </a:solidFill>
                <a:latin typeface="JetBrains Mono NL"/>
              </a:rPr>
              <a:t>DISPATCH  ·  </a:t>
            </a:r>
            <a:r>
              <a:rPr sz="900" b="1" i="0" spc="120">
                <a:solidFill>
                  <a:srgbClr val="0369A1"/>
                </a:solidFill>
                <a:latin typeface="JetBrains Mono N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5974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31949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47923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3898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79873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5847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11822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7796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3771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59746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75720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84048"/>
            <a:ext cx="12191695" cy="9144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55664"/>
            <a:ext cx="12191695" cy="9144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120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260">
                <a:solidFill>
                  <a:srgbClr val="0369A1"/>
                </a:solidFill>
                <a:latin typeface="JetBrains Mono NL"/>
              </a:rPr>
              <a:t>06 · THE CLOSED 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804672"/>
            <a:ext cx="877824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 spc="-60">
                <a:solidFill>
                  <a:srgbClr val="0D1526"/>
                </a:solidFill>
                <a:latin typeface="Inter"/>
              </a:rPr>
              <a:t>An alert is not the end of the job.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9695" y="548640"/>
            <a:ext cx="4023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150">
                <a:solidFill>
                  <a:srgbClr val="6B7C96"/>
                </a:solidFill>
                <a:latin typeface="JetBrains Mono NL"/>
              </a:rPr>
              <a:t>KESTREL / MISSION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627632"/>
            <a:ext cx="11094415" cy="12801"/>
          </a:xfrm>
          <a:prstGeom prst="rect">
            <a:avLst/>
          </a:prstGeom>
          <a:solidFill>
            <a:srgbClr val="CFD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2148840"/>
            <a:ext cx="200253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8096" y="2368296"/>
            <a:ext cx="384048" cy="384048"/>
          </a:xfrm>
          <a:prstGeom prst="ellipse">
            <a:avLst/>
          </a:prstGeom>
          <a:solidFill>
            <a:srgbClr val="E6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2372868"/>
            <a:ext cx="3840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369A1"/>
                </a:solidFill>
                <a:latin typeface="JetBrains Mono NL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2935224"/>
            <a:ext cx="156362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 spc="30">
                <a:solidFill>
                  <a:srgbClr val="0D1526"/>
                </a:solidFill>
                <a:latin typeface="Inter"/>
              </a:rPr>
              <a:t>ALERT RAISED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3392424"/>
            <a:ext cx="15636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43526B"/>
                </a:solidFill>
                <a:latin typeface="Inter"/>
              </a:rPr>
              <a:t>with dispatch coordinates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32888" y="2862072"/>
            <a:ext cx="329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EA5E9"/>
                </a:solidFill>
                <a:latin typeface="Inter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20924" y="2148840"/>
            <a:ext cx="200253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040380" y="2368296"/>
            <a:ext cx="384048" cy="384048"/>
          </a:xfrm>
          <a:prstGeom prst="ellipse">
            <a:avLst/>
          </a:prstGeom>
          <a:solidFill>
            <a:srgbClr val="E6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0380" y="2372868"/>
            <a:ext cx="3840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369A1"/>
                </a:solidFill>
                <a:latin typeface="JetBrains Mono N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40380" y="2935224"/>
            <a:ext cx="156362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 spc="30">
                <a:solidFill>
                  <a:srgbClr val="0D1526"/>
                </a:solidFill>
                <a:latin typeface="Inter"/>
              </a:rPr>
              <a:t>MISSION PLANNED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40380" y="3392424"/>
            <a:ext cx="15636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43526B"/>
                </a:solidFill>
                <a:latin typeface="Inter"/>
              </a:rPr>
              <a:t>feasibility checked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5172" y="2862072"/>
            <a:ext cx="329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EA5E9"/>
                </a:solidFill>
                <a:latin typeface="Inter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93207" y="2148840"/>
            <a:ext cx="200253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12664" y="2368296"/>
            <a:ext cx="384048" cy="384048"/>
          </a:xfrm>
          <a:prstGeom prst="ellipse">
            <a:avLst/>
          </a:prstGeom>
          <a:solidFill>
            <a:srgbClr val="E6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12664" y="2372868"/>
            <a:ext cx="3840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369A1"/>
                </a:solidFill>
                <a:latin typeface="JetBrains Mono N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12664" y="2935224"/>
            <a:ext cx="156362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 spc="30">
                <a:solidFill>
                  <a:srgbClr val="0D1526"/>
                </a:solidFill>
                <a:latin typeface="Inter"/>
              </a:rPr>
              <a:t>HUMAN APPROVES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392424"/>
            <a:ext cx="15636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43526B"/>
                </a:solidFill>
                <a:latin typeface="Inter"/>
              </a:rPr>
              <a:t>the agent cannot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77456" y="2862072"/>
            <a:ext cx="329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EA5E9"/>
                </a:solidFill>
                <a:latin typeface="Inter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65492" y="2148840"/>
            <a:ext cx="200253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584948" y="2368296"/>
            <a:ext cx="384048" cy="384048"/>
          </a:xfrm>
          <a:prstGeom prst="ellipse">
            <a:avLst/>
          </a:prstGeom>
          <a:solidFill>
            <a:srgbClr val="E6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84948" y="2372868"/>
            <a:ext cx="3840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369A1"/>
                </a:solidFill>
                <a:latin typeface="JetBrains Mono N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4948" y="2935224"/>
            <a:ext cx="156362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 spc="30">
                <a:solidFill>
                  <a:srgbClr val="0D1526"/>
                </a:solidFill>
                <a:latin typeface="Inter"/>
              </a:rPr>
              <a:t>DRONE FLIES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4948" y="3392424"/>
            <a:ext cx="15636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43526B"/>
                </a:solidFill>
                <a:latin typeface="Inter"/>
              </a:rPr>
              <a:t>closer vantage, better 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49740" y="2862072"/>
            <a:ext cx="329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EA5E9"/>
                </a:solidFill>
                <a:latin typeface="Inter"/>
              </a:rPr>
              <a:t>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37776" y="2148840"/>
            <a:ext cx="200253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857232" y="2368296"/>
            <a:ext cx="384048" cy="384048"/>
          </a:xfrm>
          <a:prstGeom prst="ellipse">
            <a:avLst/>
          </a:prstGeom>
          <a:solidFill>
            <a:srgbClr val="E6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57232" y="2372868"/>
            <a:ext cx="3840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369A1"/>
                </a:solidFill>
                <a:latin typeface="JetBrains Mono NL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57232" y="2935224"/>
            <a:ext cx="156362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 spc="30">
                <a:solidFill>
                  <a:srgbClr val="0D1526"/>
                </a:solidFill>
                <a:latin typeface="Inter"/>
              </a:rPr>
              <a:t>CONFIDENCE REVISED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57232" y="3392424"/>
            <a:ext cx="15636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43526B"/>
                </a:solidFill>
                <a:latin typeface="Inter"/>
              </a:rPr>
              <a:t>on new evidence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8640" y="4343400"/>
            <a:ext cx="11094415" cy="1371600"/>
          </a:xfrm>
          <a:prstGeom prst="roundRect">
            <a:avLst>
              <a:gd name="adj" fmla="val 12000"/>
            </a:avLst>
          </a:prstGeom>
          <a:solidFill>
            <a:srgbClr val="E6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48640" y="4343400"/>
            <a:ext cx="45720" cy="13716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7" y="4343400"/>
            <a:ext cx="10509199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0D1526"/>
                </a:solidFill>
                <a:latin typeface="Inter"/>
              </a:rPr>
              <a:t>Proposal and approval are separate code paths. </a:t>
            </a:r>
            <a:r>
              <a:rPr sz="1350" b="0" i="0">
                <a:solidFill>
                  <a:srgbClr val="43526B"/>
                </a:solidFill>
                <a:latin typeface="Inter"/>
              </a:rPr>
              <a:t>Enforced in the tool registry rather than prompt wording — and a test asserts the agent’s own loop can never set the approval flag. The loop closes because the new vantage point re-enters perception: the improvement is measured, not asserted.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5870448"/>
            <a:ext cx="1527733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5859475"/>
            <a:ext cx="152773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 spc="120">
                <a:solidFill>
                  <a:srgbClr val="F0682F"/>
                </a:solidFill>
                <a:latin typeface="JetBrains Mono NL"/>
              </a:rPr>
              <a:t>4 GATED TOOLS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240280" y="5870448"/>
            <a:ext cx="215341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240280" y="5859475"/>
            <a:ext cx="21534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 spc="120">
                <a:solidFill>
                  <a:srgbClr val="0369A1"/>
                </a:solidFill>
                <a:latin typeface="JetBrains Mono NL"/>
              </a:rPr>
              <a:t>0 PROMPT-ONLY GUARDS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709159" y="5870448"/>
            <a:ext cx="2689707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09159" y="5859475"/>
            <a:ext cx="268970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 spc="120">
                <a:solidFill>
                  <a:srgbClr val="10A37F"/>
                </a:solidFill>
                <a:latin typeface="JetBrains Mono NL"/>
              </a:rPr>
              <a:t>1 TEST PROVES THE BOUNDARY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6542532"/>
            <a:ext cx="6858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6B7C96"/>
                </a:solidFill>
                <a:latin typeface="JetBrains Mono NL"/>
              </a:rPr>
              <a:t>KESTREL — AUTONOMOUS DRONE SECURITY ANALYST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51215" y="6542532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20">
                <a:solidFill>
                  <a:srgbClr val="6B7C96"/>
                </a:solidFill>
                <a:latin typeface="JetBrains Mono NL"/>
              </a:rPr>
              <a:t>MISSION  ·  </a:t>
            </a:r>
            <a:r>
              <a:rPr sz="900" b="1" i="0" spc="120">
                <a:solidFill>
                  <a:srgbClr val="0369A1"/>
                </a:solidFill>
                <a:latin typeface="JetBrains Mono N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5974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31949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47923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3898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79873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5847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11822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7796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3771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59746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75720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84048"/>
            <a:ext cx="12191695" cy="9144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55664"/>
            <a:ext cx="12191695" cy="9144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120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260">
                <a:solidFill>
                  <a:srgbClr val="0369A1"/>
                </a:solidFill>
                <a:latin typeface="JetBrains Mono NL"/>
              </a:rPr>
              <a:t>07 · THE CONTROL PLANE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804672"/>
            <a:ext cx="877824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 spc="-60">
                <a:solidFill>
                  <a:srgbClr val="0D1526"/>
                </a:solidFill>
                <a:latin typeface="Inter"/>
              </a:rPr>
              <a:t>Ask it anything. It will tell you when it does not know.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9695" y="548640"/>
            <a:ext cx="4023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150">
                <a:solidFill>
                  <a:srgbClr val="6B7C96"/>
                </a:solidFill>
                <a:latin typeface="JetBrains Mono NL"/>
              </a:rPr>
              <a:t>KESTREL / TOOLS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627632"/>
            <a:ext cx="11094415" cy="12801"/>
          </a:xfrm>
          <a:prstGeom prst="rect">
            <a:avLst/>
          </a:prstGeom>
          <a:solidFill>
            <a:srgbClr val="CFD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1810512"/>
            <a:ext cx="2567863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1810512"/>
            <a:ext cx="2567863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2048256"/>
            <a:ext cx="211066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0D1526"/>
                </a:solidFill>
                <a:latin typeface="JetBrains Mono NL"/>
              </a:rPr>
              <a:t>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2816352"/>
            <a:ext cx="21106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0EA5E9"/>
                </a:solidFill>
                <a:latin typeface="JetBrains Mono NL"/>
              </a:rPr>
              <a:t>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3108960"/>
            <a:ext cx="205579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43526B"/>
                </a:solidFill>
                <a:latin typeface="Inter"/>
              </a:rPr>
              <a:t>every capability, callable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90823" y="1810512"/>
            <a:ext cx="2567863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90823" y="1810512"/>
            <a:ext cx="2567863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46855" y="2048256"/>
            <a:ext cx="211066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0D1526"/>
                </a:solidFill>
                <a:latin typeface="JetBrains Mono NL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46855" y="2816352"/>
            <a:ext cx="21106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38BDF8"/>
                </a:solidFill>
                <a:latin typeface="JetBrains Mono NL"/>
              </a:rPr>
              <a:t>CLASSES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46855" y="3108960"/>
            <a:ext cx="205579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43526B"/>
                </a:solidFill>
                <a:latin typeface="Inter"/>
              </a:rPr>
              <a:t>one registry, eight verbs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3007" y="1810512"/>
            <a:ext cx="2567863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33007" y="1810512"/>
            <a:ext cx="2567863" cy="54864"/>
          </a:xfrm>
          <a:prstGeom prst="rect">
            <a:avLst/>
          </a:prstGeom>
          <a:solidFill>
            <a:srgbClr val="F06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9039" y="2048256"/>
            <a:ext cx="211066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0D1526"/>
                </a:solidFill>
                <a:latin typeface="JetBrains Mono N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9039" y="2816352"/>
            <a:ext cx="21106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F0682F"/>
                </a:solidFill>
                <a:latin typeface="JetBrains Mono NL"/>
              </a:rPr>
              <a:t>GATED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89039" y="3108960"/>
            <a:ext cx="205579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43526B"/>
                </a:solidFill>
                <a:latin typeface="Inter"/>
              </a:rPr>
              <a:t>no aircraft moves without a human decision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75191" y="1810512"/>
            <a:ext cx="2567863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75191" y="1810512"/>
            <a:ext cx="2567863" cy="54864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31223" y="2048256"/>
            <a:ext cx="211066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0D1526"/>
                </a:solidFill>
                <a:latin typeface="JetBrains Mono NL"/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31223" y="2816352"/>
            <a:ext cx="21106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10A37F"/>
                </a:solidFill>
                <a:latin typeface="JetBrains Mono NL"/>
              </a:rPr>
              <a:t>PROMPT-ONLY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31223" y="3108960"/>
            <a:ext cx="205579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43526B"/>
                </a:solidFill>
                <a:latin typeface="Inter"/>
              </a:rPr>
              <a:t>the boundary is a code path, and a test proves 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041648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200">
                <a:solidFill>
                  <a:srgbClr val="6B7C96"/>
                </a:solidFill>
                <a:latin typeface="JetBrains Mono NL"/>
              </a:rPr>
              <a:t>EIGHT TOOL CLASSES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4370832"/>
            <a:ext cx="10808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4359859"/>
            <a:ext cx="10808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 spc="120">
                <a:solidFill>
                  <a:srgbClr val="0369A1"/>
                </a:solidFill>
                <a:latin typeface="JetBrains Mono NL"/>
              </a:rPr>
              <a:t>RETRIEVE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775764" y="4370832"/>
            <a:ext cx="99143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775764" y="4359859"/>
            <a:ext cx="99143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 spc="120">
                <a:solidFill>
                  <a:srgbClr val="0369A1"/>
                </a:solidFill>
                <a:latin typeface="JetBrains Mono NL"/>
              </a:rPr>
              <a:t>ANALYSE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913506" y="4370832"/>
            <a:ext cx="902055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913506" y="4359859"/>
            <a:ext cx="90205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 spc="120">
                <a:solidFill>
                  <a:srgbClr val="0369A1"/>
                </a:solidFill>
                <a:latin typeface="JetBrains Mono NL"/>
              </a:rPr>
              <a:t>AUTHOR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961866" y="4370832"/>
            <a:ext cx="633907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961866" y="4359859"/>
            <a:ext cx="63390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 spc="120">
                <a:solidFill>
                  <a:srgbClr val="0369A1"/>
                </a:solidFill>
                <a:latin typeface="JetBrains Mono NL"/>
              </a:rPr>
              <a:t>ACT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742078" y="4370832"/>
            <a:ext cx="99143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42078" y="4359859"/>
            <a:ext cx="99143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 spc="120">
                <a:solidFill>
                  <a:srgbClr val="0369A1"/>
                </a:solidFill>
                <a:latin typeface="JetBrains Mono NL"/>
              </a:rPr>
              <a:t>OPERATE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879820" y="4370832"/>
            <a:ext cx="10808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79820" y="4359859"/>
            <a:ext cx="10808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 spc="120">
                <a:solidFill>
                  <a:srgbClr val="0369A1"/>
                </a:solidFill>
                <a:latin typeface="JetBrains Mono NL"/>
              </a:rPr>
              <a:t>NAVIGATE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106945" y="4370832"/>
            <a:ext cx="812673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06945" y="4359859"/>
            <a:ext cx="81267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 spc="120">
                <a:solidFill>
                  <a:srgbClr val="0369A1"/>
                </a:solidFill>
                <a:latin typeface="JetBrains Mono NL"/>
              </a:rPr>
              <a:t>FLEET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65922" y="4370832"/>
            <a:ext cx="99143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65922" y="4359859"/>
            <a:ext cx="99143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 spc="120">
                <a:solidFill>
                  <a:srgbClr val="0369A1"/>
                </a:solidFill>
                <a:latin typeface="JetBrains Mono NL"/>
              </a:rPr>
              <a:t>EXPLAIN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4983480"/>
            <a:ext cx="110944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43526B"/>
                </a:solidFill>
                <a:latin typeface="Inter"/>
              </a:rPr>
              <a:t>Conversation is not a feature bolted to the side; it is the way every capability is reachable. </a:t>
            </a:r>
            <a:r>
              <a:rPr sz="1250" b="1" i="0">
                <a:solidFill>
                  <a:srgbClr val="0D1526"/>
                </a:solidFill>
                <a:latin typeface="Inter"/>
              </a:rPr>
              <a:t>Answers arrive as live interface, not paragraphs. </a:t>
            </a:r>
            <a:r>
              <a:rPr sz="1250" b="0" i="0">
                <a:solidFill>
                  <a:srgbClr val="43526B"/>
                </a:solidFill>
                <a:latin typeface="Inter"/>
              </a:rPr>
              <a:t>Each cited identifier is checked against the tool results that produced it — a citation that resolves to nothing is marked unverified rather than rendered as fact.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6542532"/>
            <a:ext cx="6858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6B7C96"/>
                </a:solidFill>
                <a:latin typeface="JetBrains Mono NL"/>
              </a:rPr>
              <a:t>KESTREL — AUTONOMOUS DRONE SECURITY ANALYST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51215" y="6542532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20">
                <a:solidFill>
                  <a:srgbClr val="6B7C96"/>
                </a:solidFill>
                <a:latin typeface="JetBrains Mono NL"/>
              </a:rPr>
              <a:t>TOOLS  ·  </a:t>
            </a:r>
            <a:r>
              <a:rPr sz="900" b="1" i="0" spc="120">
                <a:solidFill>
                  <a:srgbClr val="0369A1"/>
                </a:solidFill>
                <a:latin typeface="JetBrains Mono N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5974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31949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47923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3898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79873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5847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11822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7796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3771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59746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75720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84048"/>
            <a:ext cx="12191695" cy="9144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55664"/>
            <a:ext cx="12191695" cy="9144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120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260">
                <a:solidFill>
                  <a:srgbClr val="0369A1"/>
                </a:solidFill>
                <a:latin typeface="JetBrains Mono NL"/>
              </a:rPr>
              <a:t>08 · MEASURED, NOT CLAIMED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804672"/>
            <a:ext cx="877824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 spc="-60">
                <a:solidFill>
                  <a:srgbClr val="0D1526"/>
                </a:solidFill>
                <a:latin typeface="Inter"/>
              </a:rPr>
              <a:t>Every number was produced by a benchmark in the repository.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9695" y="548640"/>
            <a:ext cx="4023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150">
                <a:solidFill>
                  <a:srgbClr val="6B7C96"/>
                </a:solidFill>
                <a:latin typeface="JetBrains Mono NL"/>
              </a:rPr>
              <a:t>KESTREL / EVALS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627632"/>
            <a:ext cx="11094415" cy="12801"/>
          </a:xfrm>
          <a:prstGeom prst="rect">
            <a:avLst/>
          </a:prstGeom>
          <a:solidFill>
            <a:srgbClr val="CFD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1810512"/>
            <a:ext cx="1999427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1810512"/>
            <a:ext cx="1999427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2084831"/>
            <a:ext cx="15970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0D1526"/>
                </a:solidFill>
                <a:latin typeface="JetBrains Mono NL"/>
              </a:rPr>
              <a:t>8 / 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2670048"/>
            <a:ext cx="159709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 spc="80">
                <a:solidFill>
                  <a:srgbClr val="0EA5E9"/>
                </a:solidFill>
                <a:latin typeface="JetBrains Mono NL"/>
              </a:rPr>
              <a:t>SCENARIOS PASS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3145536"/>
            <a:ext cx="15970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43526B"/>
                </a:solidFill>
                <a:latin typeface="Inter"/>
              </a:rPr>
              <a:t>labelled scenario suite, end to end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22387" y="1810512"/>
            <a:ext cx="1999427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22387" y="1810512"/>
            <a:ext cx="1999427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23555" y="2084831"/>
            <a:ext cx="15970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0D1526"/>
                </a:solidFill>
                <a:latin typeface="JetBrains Mono NL"/>
              </a:rPr>
              <a:t>9 · 0 · 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23555" y="2670048"/>
            <a:ext cx="159709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 spc="80">
                <a:solidFill>
                  <a:srgbClr val="0EA5E9"/>
                </a:solidFill>
                <a:latin typeface="JetBrains Mono NL"/>
              </a:rPr>
              <a:t>TP · FP · FN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23555" y="3145536"/>
            <a:ext cx="15970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43526B"/>
                </a:solidFill>
                <a:latin typeface="Inter"/>
              </a:rPr>
              <a:t>zero false alarms, zero misses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96134" y="1810512"/>
            <a:ext cx="1999427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96134" y="1810512"/>
            <a:ext cx="1999427" cy="54864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97302" y="2084831"/>
            <a:ext cx="15970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0D1526"/>
                </a:solidFill>
                <a:latin typeface="JetBrains Mono NL"/>
              </a:rPr>
              <a:t>1.00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97302" y="2670048"/>
            <a:ext cx="159709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 spc="80">
                <a:solidFill>
                  <a:srgbClr val="0369A1"/>
                </a:solidFill>
                <a:latin typeface="JetBrains Mono NL"/>
              </a:rPr>
              <a:t>PRECISION AND RECALL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97302" y="3145536"/>
            <a:ext cx="15970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43526B"/>
                </a:solidFill>
                <a:latin typeface="Inter"/>
              </a:rPr>
              <a:t>F1 = 1.00 on the labelled suite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69881" y="1810512"/>
            <a:ext cx="1999427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69881" y="1810512"/>
            <a:ext cx="1999427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71049" y="2084831"/>
            <a:ext cx="15970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0D1526"/>
                </a:solidFill>
                <a:latin typeface="JetBrains Mono NL"/>
              </a:rPr>
              <a:t>0.975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71049" y="2670048"/>
            <a:ext cx="159709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 spc="80">
                <a:solidFill>
                  <a:srgbClr val="38BDF8"/>
                </a:solidFill>
                <a:latin typeface="JetBrains Mono NL"/>
              </a:rPr>
              <a:t>MEAN P@K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71049" y="3145536"/>
            <a:ext cx="15970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43526B"/>
                </a:solidFill>
                <a:latin typeface="Inter"/>
              </a:rPr>
              <a:t>hybrid retrieval, one ingested session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43628" y="1810512"/>
            <a:ext cx="1999427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643628" y="1810512"/>
            <a:ext cx="1999427" cy="54864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44796" y="2084831"/>
            <a:ext cx="15970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0D1526"/>
                </a:solidFill>
                <a:latin typeface="JetBrains Mono NL"/>
              </a:rPr>
              <a:t>6 / 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44796" y="2670048"/>
            <a:ext cx="159709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 spc="80">
                <a:solidFill>
                  <a:srgbClr val="10A37F"/>
                </a:solidFill>
                <a:latin typeface="JetBrains Mono NL"/>
              </a:rPr>
              <a:t>CHAOS FAULTS SURVIVED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44796" y="3145536"/>
            <a:ext cx="15970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43526B"/>
                </a:solidFill>
                <a:latin typeface="Inter"/>
              </a:rPr>
              <a:t>no key, cassette miss, corrupt frame, timeout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4224528"/>
            <a:ext cx="11094415" cy="1417320"/>
          </a:xfrm>
          <a:prstGeom prst="roundRect">
            <a:avLst>
              <a:gd name="adj" fmla="val 12000"/>
            </a:avLst>
          </a:prstGeom>
          <a:solidFill>
            <a:srgbClr val="E6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48640" y="4224528"/>
            <a:ext cx="45720" cy="14173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7" y="4224528"/>
            <a:ext cx="10509199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0D1526"/>
                </a:solidFill>
                <a:latin typeface="Inter"/>
              </a:rPr>
              <a:t>True negatives are weighted equally with true positives. </a:t>
            </a:r>
            <a:r>
              <a:rPr sz="1350" b="0" i="0">
                <a:solidFill>
                  <a:srgbClr val="43526B"/>
                </a:solidFill>
                <a:latin typeface="Inter"/>
              </a:rPr>
              <a:t>Routine delivery, wildlife at the fence, shift change — the suite scores them too. A security system that cries wolf gets switched off, and then it protects nothing.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542532"/>
            <a:ext cx="6858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6B7C96"/>
                </a:solidFill>
                <a:latin typeface="JetBrains Mono NL"/>
              </a:rPr>
              <a:t>KESTREL — AUTONOMOUS DRONE SECURITY ANALYST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51215" y="6542532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20">
                <a:solidFill>
                  <a:srgbClr val="6B7C96"/>
                </a:solidFill>
                <a:latin typeface="JetBrains Mono NL"/>
              </a:rPr>
              <a:t>EVALS  ·  </a:t>
            </a:r>
            <a:r>
              <a:rPr sz="900" b="1" i="0" spc="120">
                <a:solidFill>
                  <a:srgbClr val="0369A1"/>
                </a:solidFill>
                <a:latin typeface="JetBrains Mono N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5974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31949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47923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3898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79873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5847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11822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7796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3771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59746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75720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84048"/>
            <a:ext cx="12191695" cy="9144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55664"/>
            <a:ext cx="12191695" cy="9144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120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260">
                <a:solidFill>
                  <a:srgbClr val="0369A1"/>
                </a:solidFill>
                <a:latin typeface="JetBrains Mono NL"/>
              </a:rPr>
              <a:t>09 · HONESTY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804672"/>
            <a:ext cx="877824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 spc="-60">
                <a:solidFill>
                  <a:srgbClr val="0D1526"/>
                </a:solidFill>
                <a:latin typeface="Inter"/>
              </a:rPr>
              <a:t>What is real, and what is not.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9695" y="548640"/>
            <a:ext cx="4023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150">
                <a:solidFill>
                  <a:srgbClr val="6B7C96"/>
                </a:solidFill>
                <a:latin typeface="JetBrains Mono NL"/>
              </a:rPr>
              <a:t>KESTREL / DATA PROVENANCE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627632"/>
            <a:ext cx="11094415" cy="12801"/>
          </a:xfrm>
          <a:prstGeom prst="rect">
            <a:avLst/>
          </a:prstGeom>
          <a:solidFill>
            <a:srgbClr val="CFD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1810512"/>
            <a:ext cx="5387187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1810512"/>
            <a:ext cx="5387187" cy="54864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" y="2029967"/>
            <a:ext cx="744321" cy="292608"/>
          </a:xfrm>
          <a:prstGeom prst="roundRect">
            <a:avLst>
              <a:gd name="adj" fmla="val 50000"/>
            </a:avLst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2018995"/>
            <a:ext cx="744321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 spc="120">
                <a:solidFill>
                  <a:srgbClr val="FFFFFF"/>
                </a:solidFill>
                <a:latin typeface="JetBrains Mono NL"/>
              </a:rPr>
              <a:t>REAL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252374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0A37F"/>
                </a:solidFill>
                <a:latin typeface="Inter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2542032"/>
            <a:ext cx="45459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3526B"/>
                </a:solidFill>
                <a:latin typeface="Inter"/>
              </a:rPr>
              <a:t>The video — CC BY 4.0 footage through the real 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299923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0A37F"/>
                </a:solidFill>
                <a:latin typeface="Inter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3017520"/>
            <a:ext cx="45459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3526B"/>
                </a:solidFill>
                <a:latin typeface="Inter"/>
              </a:rPr>
              <a:t>The detections, tracks and embeddings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" y="347472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0A37F"/>
                </a:solidFill>
                <a:latin typeface="Inter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3493008"/>
            <a:ext cx="45459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3526B"/>
                </a:solidFill>
                <a:latin typeface="Inter"/>
              </a:rPr>
              <a:t>The captions — from a live vision-language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" y="395020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0A37F"/>
                </a:solidFill>
                <a:latin typeface="Inter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3968496"/>
            <a:ext cx="45459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3526B"/>
                </a:solidFill>
                <a:latin typeface="Inter"/>
              </a:rPr>
              <a:t>The rules, memory, retrieval and audit chain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59" y="442569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0A37F"/>
                </a:solidFill>
                <a:latin typeface="Inter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4443983"/>
            <a:ext cx="45459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3526B"/>
                </a:solidFill>
                <a:latin typeface="Inter"/>
              </a:rPr>
              <a:t>Every measured number on the evals page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55867" y="1810512"/>
            <a:ext cx="5387187" cy="3200400"/>
          </a:xfrm>
          <a:prstGeom prst="roundRect">
            <a:avLst>
              <a:gd name="adj" fmla="val 5000"/>
            </a:avLst>
          </a:prstGeom>
          <a:solidFill>
            <a:srgbClr val="F2F6FB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55867" y="1810512"/>
            <a:ext cx="5387187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511899" y="2029967"/>
            <a:ext cx="1217523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1899" y="2018995"/>
            <a:ext cx="1217523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 spc="120">
                <a:solidFill>
                  <a:srgbClr val="FFFFFF"/>
                </a:solidFill>
                <a:latin typeface="JetBrains Mono NL"/>
              </a:rPr>
              <a:t>SIMULATED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0187" y="252374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JetBrains Mono NL"/>
              </a:rPr>
              <a:t>~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22795" y="2542032"/>
            <a:ext cx="45459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3526B"/>
                </a:solidFill>
                <a:latin typeface="Inter"/>
              </a:rPr>
              <a:t>The telemetry — there is no aircraft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0187" y="299923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JetBrains Mono NL"/>
              </a:rPr>
              <a:t>~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22795" y="3017520"/>
            <a:ext cx="45459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3526B"/>
                </a:solidFill>
                <a:latin typeface="Inter"/>
              </a:rPr>
              <a:t>The site geometry and zone definitions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0187" y="347472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JetBrains Mono NL"/>
              </a:rPr>
              <a:t>~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22795" y="3493008"/>
            <a:ext cx="45459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3526B"/>
                </a:solidFill>
                <a:latin typeface="Inter"/>
              </a:rPr>
              <a:t>Every fleet site except the flagship plant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395020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JetBrains Mono NL"/>
              </a:rPr>
              <a:t>~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22795" y="3968496"/>
            <a:ext cx="45459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3526B"/>
                </a:solidFill>
                <a:latin typeface="Inter"/>
              </a:rPr>
              <a:t>Mission execution — integrated, not flown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5230368"/>
            <a:ext cx="11094415" cy="1097280"/>
          </a:xfrm>
          <a:prstGeom prst="roundRect">
            <a:avLst>
              <a:gd name="adj" fmla="val 12000"/>
            </a:avLst>
          </a:prstGeom>
          <a:solidFill>
            <a:srgbClr val="E6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8640" y="5230368"/>
            <a:ext cx="45720" cy="109728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1247" y="5230368"/>
            <a:ext cx="10509199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0D1526"/>
                </a:solidFill>
                <a:latin typeface="Inter"/>
              </a:rPr>
              <a:t>Simulated data is labelled wherever it appears — including in the API payloads. </a:t>
            </a:r>
            <a:r>
              <a:rPr sz="1250" b="0" i="0">
                <a:solidFill>
                  <a:srgbClr val="43526B"/>
                </a:solidFill>
                <a:latin typeface="Inter"/>
              </a:rPr>
              <a:t>A portfolio view implying more live aircraft than exist would be the one thing capable of discrediting everything else here.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542532"/>
            <a:ext cx="6858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6B7C96"/>
                </a:solidFill>
                <a:latin typeface="JetBrains Mono NL"/>
              </a:rPr>
              <a:t>KESTREL — AUTONOMOUS DRONE SECURITY ANALYST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51215" y="6542532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20">
                <a:solidFill>
                  <a:srgbClr val="6B7C96"/>
                </a:solidFill>
                <a:latin typeface="JetBrains Mono NL"/>
              </a:rPr>
              <a:t>DATA PROVENANCE  ·  </a:t>
            </a:r>
            <a:r>
              <a:rPr sz="900" b="1" i="0" spc="120">
                <a:solidFill>
                  <a:srgbClr val="0369A1"/>
                </a:solidFill>
                <a:latin typeface="JetBrains Mono N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5974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31949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47923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3898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79873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5847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11822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7796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3771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59746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75720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84048"/>
            <a:ext cx="12191695" cy="9144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55664"/>
            <a:ext cx="12191695" cy="9144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120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240">
                <a:solidFill>
                  <a:srgbClr val="0369A1"/>
                </a:solidFill>
                <a:latin typeface="JetBrains Mono NL"/>
              </a:rPr>
              <a:t>KESTREL M300 RTK DOCK · PLANT-01 · ARMED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77095" y="438912"/>
            <a:ext cx="145938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77095" y="427939"/>
            <a:ext cx="145938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 spc="120">
                <a:solidFill>
                  <a:srgbClr val="10A37F"/>
                </a:solidFill>
                <a:latin typeface="JetBrains Mono NL"/>
              </a:rPr>
              <a:t>CONSOLE READY</a:t>
            </a:r>
          </a:p>
        </p:txBody>
      </p:sp>
      <p:sp>
        <p:nvSpPr>
          <p:cNvPr id="19" name="Oval 18"/>
          <p:cNvSpPr/>
          <p:nvPr/>
        </p:nvSpPr>
        <p:spPr>
          <a:xfrm>
            <a:off x="9786823" y="525780"/>
            <a:ext cx="64008" cy="64008"/>
          </a:xfrm>
          <a:prstGeom prst="ellipse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1517904"/>
            <a:ext cx="11094415" cy="12801"/>
          </a:xfrm>
          <a:prstGeom prst="rect">
            <a:avLst/>
          </a:prstGeom>
          <a:solidFill>
            <a:srgbClr val="CFD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1965960"/>
            <a:ext cx="110642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 spc="-120">
                <a:solidFill>
                  <a:srgbClr val="0D1526"/>
                </a:solidFill>
                <a:latin typeface="Inter"/>
              </a:rPr>
              <a:t>Ask it what happened </a:t>
            </a:r>
            <a:r>
              <a:rPr sz="4200" b="1" i="0" spc="-120">
                <a:solidFill>
                  <a:srgbClr val="0369A1"/>
                </a:solidFill>
                <a:latin typeface="Inter"/>
              </a:rPr>
              <a:t>last night.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310128"/>
            <a:ext cx="1234440" cy="6400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584448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43526B"/>
                </a:solidFill>
                <a:latin typeface="Inter"/>
              </a:rPr>
              <a:t>Everything KESTREL can do is reachable in conversation — and it will tell you honestly when it has no evidence to answer with.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617720"/>
            <a:ext cx="996695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606747"/>
            <a:ext cx="996695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 spc="120">
                <a:solidFill>
                  <a:srgbClr val="0369A1"/>
                </a:solidFill>
                <a:latin typeface="JetBrains Mono NL"/>
              </a:rPr>
              <a:t>PERCEIVE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73352" y="4617720"/>
            <a:ext cx="996695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73352" y="4606747"/>
            <a:ext cx="996695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 spc="120">
                <a:solidFill>
                  <a:srgbClr val="0369A1"/>
                </a:solidFill>
                <a:latin typeface="JetBrains Mono NL"/>
              </a:rPr>
              <a:t>REMEMBER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98064" y="4617720"/>
            <a:ext cx="838962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98064" y="4606747"/>
            <a:ext cx="83896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 spc="120">
                <a:solidFill>
                  <a:srgbClr val="0369A1"/>
                </a:solidFill>
                <a:latin typeface="JetBrains Mono NL"/>
              </a:rPr>
              <a:t>REASON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65041" y="4617720"/>
            <a:ext cx="602361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65041" y="4606747"/>
            <a:ext cx="602361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 spc="120">
                <a:solidFill>
                  <a:srgbClr val="0369A1"/>
                </a:solidFill>
                <a:latin typeface="JetBrains Mono NL"/>
              </a:rPr>
              <a:t>ACT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95419" y="4617720"/>
            <a:ext cx="996695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95419" y="4606747"/>
            <a:ext cx="996695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 spc="120">
                <a:solidFill>
                  <a:srgbClr val="0369A1"/>
                </a:solidFill>
                <a:latin typeface="JetBrains Mono NL"/>
              </a:rPr>
              <a:t>CONVERSE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20131" y="4617720"/>
            <a:ext cx="760095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20131" y="4606747"/>
            <a:ext cx="760095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 spc="120">
                <a:solidFill>
                  <a:srgbClr val="0369A1"/>
                </a:solidFill>
                <a:latin typeface="JetBrains Mono NL"/>
              </a:rPr>
              <a:t>PROVE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138928"/>
            <a:ext cx="2163927" cy="384048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127955"/>
            <a:ext cx="216392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 spc="160">
                <a:solidFill>
                  <a:srgbClr val="FFFFFF"/>
                </a:solidFill>
                <a:latin typeface="JetBrains Mono NL"/>
              </a:rPr>
              <a:t>OPEN THE CONSOLE  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77159" y="5138928"/>
            <a:ext cx="1406804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77159" y="5127955"/>
            <a:ext cx="140680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 spc="160">
                <a:solidFill>
                  <a:srgbClr val="0D1526"/>
                </a:solidFill>
                <a:latin typeface="JetBrains Mono NL"/>
              </a:rPr>
              <a:t>ASK KESTREL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6053328"/>
            <a:ext cx="11094415" cy="10972"/>
          </a:xfrm>
          <a:prstGeom prst="rect">
            <a:avLst/>
          </a:prstGeom>
          <a:solidFill>
            <a:srgbClr val="CFD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181344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80">
                <a:solidFill>
                  <a:srgbClr val="6B7C96"/>
                </a:solidFill>
                <a:latin typeface="JetBrains Mono NL"/>
              </a:rPr>
              <a:t>MADE WITH ♥ BY ATHARVA AWADE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71055" y="6181344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 spc="80">
                <a:solidFill>
                  <a:srgbClr val="0369A1"/>
                </a:solidFill>
                <a:latin typeface="JetBrains Mono NL"/>
              </a:rPr>
              <a:t>kestrel-flyt-base-3kcq-roan.vercel.app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